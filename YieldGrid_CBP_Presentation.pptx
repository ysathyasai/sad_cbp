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1" d="100"/>
          <a:sy n="71" d="100"/>
        </p:scale>
        <p:origin x="1109" y="2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Rounded Rectangle 1"/>
          <p:cNvSpPr/>
          <p:nvPr/>
        </p:nvSpPr>
        <p:spPr>
          <a:xfrm>
            <a:off x="731520" y="731520"/>
            <a:ext cx="6583680" cy="5394960"/>
          </a:xfrm>
          <a:prstGeom prst="roundRect">
            <a:avLst/>
          </a:prstGeom>
          <a:solidFill>
            <a:srgbClr val="145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731520"/>
            <a:ext cx="658368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1188720"/>
            <a:ext cx="5669280" cy="2764859"/>
          </a:xfrm>
          <a:prstGeom prst="rect">
            <a:avLst/>
          </a:prstGeom>
          <a:noFill/>
        </p:spPr>
        <p:txBody>
          <a:bodyPr wrap="square" lIns="0" tIns="0" rIns="0" bIns="0">
            <a:spAutoFit/>
          </a:bodyPr>
          <a:lstStyle/>
          <a:p>
            <a:pPr>
              <a:defRPr sz="950" b="1">
                <a:solidFill>
                  <a:srgbClr val="DCFCE7"/>
                </a:solidFill>
                <a:latin typeface="Segoe UI"/>
              </a:defRPr>
            </a:pPr>
            <a:endParaRPr dirty="0"/>
          </a:p>
          <a:p>
            <a:pPr>
              <a:spcBef>
                <a:spcPts val="1200"/>
              </a:spcBef>
              <a:defRPr sz="4400" b="1">
                <a:solidFill>
                  <a:srgbClr val="FFFFFF"/>
                </a:solidFill>
                <a:latin typeface="Segoe UI"/>
              </a:defRPr>
            </a:pPr>
            <a:r>
              <a:rPr dirty="0" err="1"/>
              <a:t>YieldGrid</a:t>
            </a:r>
            <a:endParaRPr dirty="0"/>
          </a:p>
          <a:p>
            <a:pPr>
              <a:spcBef>
                <a:spcPts val="400"/>
              </a:spcBef>
              <a:defRPr sz="1700" b="1">
                <a:solidFill>
                  <a:srgbClr val="DCFCE7"/>
                </a:solidFill>
                <a:latin typeface="Segoe UI"/>
              </a:defRPr>
            </a:pPr>
            <a:r>
              <a:rPr dirty="0"/>
              <a:t>Application for Farm-to-Retail Inventory</a:t>
            </a:r>
          </a:p>
          <a:p>
            <a:pPr>
              <a:spcBef>
                <a:spcPts val="2400"/>
              </a:spcBef>
              <a:defRPr sz="1150">
                <a:solidFill>
                  <a:srgbClr val="DCE6E1"/>
                </a:solidFill>
                <a:latin typeface="Segoe UI"/>
              </a:defRPr>
            </a:pPr>
            <a:r>
              <a:rPr dirty="0"/>
              <a:t>Subject: Object-Oriented Programming through Java (25PC1CS201)</a:t>
            </a:r>
          </a:p>
          <a:p>
            <a:pPr>
              <a:spcBef>
                <a:spcPts val="1000"/>
              </a:spcBef>
              <a:defRPr sz="1050">
                <a:solidFill>
                  <a:srgbClr val="C8D7CD"/>
                </a:solidFill>
                <a:latin typeface="Segoe UI"/>
              </a:defRPr>
            </a:pPr>
            <a:r>
              <a:rPr dirty="0"/>
              <a:t>A desktop Direct-to-Consumer (D2C) marketplace connecting agricultural producers with retail consumers. Engineered in pure Java Swing with Type-4 JDBC and MySQL relational persistence, enforcing ACID consistency and salted PBKDF2 authentication.</a:t>
            </a:r>
          </a:p>
          <a:p>
            <a:pPr>
              <a:spcBef>
                <a:spcPts val="1800"/>
              </a:spcBef>
              <a:defRPr sz="950" b="1">
                <a:solidFill>
                  <a:srgbClr val="DCFCE7"/>
                </a:solidFill>
                <a:latin typeface="Segoe UI"/>
              </a:defRPr>
            </a:pPr>
            <a:r>
              <a:rPr dirty="0"/>
              <a:t>Java 17+ LTS  |  Java Swing &amp; AWT  |  MySQL 8.0+  |  JDBC Type-4  |  PBKDF2 Security</a:t>
            </a:r>
          </a:p>
        </p:txBody>
      </p:sp>
      <p:sp>
        <p:nvSpPr>
          <p:cNvPr id="5" name="Rounded Rectangle 4"/>
          <p:cNvSpPr/>
          <p:nvPr/>
        </p:nvSpPr>
        <p:spPr>
          <a:xfrm>
            <a:off x="7498079" y="731520"/>
            <a:ext cx="3962095" cy="2560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98079" y="731520"/>
            <a:ext cx="39620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81635" y="1144874"/>
            <a:ext cx="3413455" cy="1572225"/>
          </a:xfrm>
          <a:prstGeom prst="rect">
            <a:avLst/>
          </a:prstGeom>
          <a:noFill/>
        </p:spPr>
        <p:txBody>
          <a:bodyPr wrap="square" lIns="0" tIns="0" rIns="0" bIns="0">
            <a:spAutoFit/>
          </a:bodyPr>
          <a:lstStyle/>
          <a:p>
            <a:pPr>
              <a:defRPr sz="950" b="1">
                <a:solidFill>
                  <a:srgbClr val="16A34A"/>
                </a:solidFill>
                <a:latin typeface="Segoe UI"/>
              </a:defRPr>
            </a:pPr>
            <a:r>
              <a:rPr dirty="0"/>
              <a:t>STUDENT PROJECT TEAM</a:t>
            </a:r>
          </a:p>
          <a:p>
            <a:pPr>
              <a:spcBef>
                <a:spcPts val="500"/>
              </a:spcBef>
              <a:defRPr sz="950">
                <a:solidFill>
                  <a:srgbClr val="1F2937"/>
                </a:solidFill>
                <a:latin typeface="Segoe UI"/>
              </a:defRPr>
            </a:pPr>
            <a:r>
              <a:rPr dirty="0"/>
              <a:t>•</a:t>
            </a:r>
            <a:r>
              <a:rPr lang="en-IN" dirty="0"/>
              <a:t>  Yejju </a:t>
            </a:r>
            <a:r>
              <a:rPr lang="en-IN" dirty="0" err="1"/>
              <a:t>Sathyasai</a:t>
            </a:r>
            <a:br>
              <a:rPr dirty="0"/>
            </a:br>
            <a:r>
              <a:rPr dirty="0"/>
              <a:t>   Role: Full-Stack Development &amp; DB</a:t>
            </a:r>
          </a:p>
          <a:p>
            <a:pPr>
              <a:spcBef>
                <a:spcPts val="500"/>
              </a:spcBef>
              <a:defRPr sz="950">
                <a:solidFill>
                  <a:srgbClr val="1F2937"/>
                </a:solidFill>
                <a:latin typeface="Segoe UI"/>
              </a:defRPr>
            </a:pPr>
            <a:r>
              <a:rPr dirty="0"/>
              <a:t>• </a:t>
            </a:r>
            <a:r>
              <a:rPr lang="en-IN" dirty="0" err="1"/>
              <a:t>Pervala</a:t>
            </a:r>
            <a:r>
              <a:rPr lang="en-IN" dirty="0"/>
              <a:t> Yashwanth (26075A6610)</a:t>
            </a:r>
            <a:br>
              <a:rPr lang="en-IN" dirty="0"/>
            </a:br>
            <a:r>
              <a:rPr lang="en-IN" dirty="0"/>
              <a:t>   </a:t>
            </a:r>
            <a:r>
              <a:rPr dirty="0"/>
              <a:t>Role: Architecture, Security &amp; Docs</a:t>
            </a:r>
          </a:p>
          <a:p>
            <a:pPr>
              <a:spcBef>
                <a:spcPts val="500"/>
              </a:spcBef>
              <a:defRPr sz="950">
                <a:solidFill>
                  <a:srgbClr val="1F2937"/>
                </a:solidFill>
                <a:latin typeface="Segoe UI"/>
              </a:defRPr>
            </a:pPr>
            <a:r>
              <a:rPr dirty="0"/>
              <a:t>• Shaik Abdul Rasheed (26075A6612)</a:t>
            </a:r>
            <a:br>
              <a:rPr dirty="0"/>
            </a:br>
            <a:r>
              <a:rPr dirty="0"/>
              <a:t>   Role: UI/UX Swing Engineering &amp; QA</a:t>
            </a:r>
            <a:endParaRPr lang="en-IN" dirty="0"/>
          </a:p>
          <a:p>
            <a:pPr>
              <a:spcBef>
                <a:spcPts val="500"/>
              </a:spcBef>
              <a:defRPr sz="950">
                <a:solidFill>
                  <a:srgbClr val="1F2937"/>
                </a:solidFill>
                <a:latin typeface="Segoe UI"/>
              </a:defRPr>
            </a:pPr>
            <a:r>
              <a:rPr lang="en-IN" dirty="0"/>
              <a:t>• Nagula Abhilash(26075A6609)</a:t>
            </a:r>
            <a:br>
              <a:rPr lang="en-IN" dirty="0"/>
            </a:br>
            <a:r>
              <a:rPr lang="en-IN" dirty="0"/>
              <a:t>   Role: Testing, prototype development</a:t>
            </a:r>
            <a:endParaRPr dirty="0"/>
          </a:p>
        </p:txBody>
      </p:sp>
      <p:sp>
        <p:nvSpPr>
          <p:cNvPr id="8" name="Rounded Rectangle 7"/>
          <p:cNvSpPr/>
          <p:nvPr/>
        </p:nvSpPr>
        <p:spPr>
          <a:xfrm>
            <a:off x="7498079" y="3474720"/>
            <a:ext cx="3962095" cy="26517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498079" y="3474720"/>
            <a:ext cx="3962095" cy="54864"/>
          </a:xfrm>
          <a:prstGeom prst="rect">
            <a:avLst/>
          </a:prstGeom>
          <a:solidFill>
            <a:srgbClr val="145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81635" y="3961623"/>
            <a:ext cx="3413455" cy="1351652"/>
          </a:xfrm>
          <a:prstGeom prst="rect">
            <a:avLst/>
          </a:prstGeom>
          <a:noFill/>
        </p:spPr>
        <p:txBody>
          <a:bodyPr wrap="square" lIns="0" tIns="0" rIns="0" bIns="0">
            <a:spAutoFit/>
          </a:bodyPr>
          <a:lstStyle/>
          <a:p>
            <a:pPr>
              <a:defRPr sz="950" b="1">
                <a:solidFill>
                  <a:srgbClr val="14532D"/>
                </a:solidFill>
                <a:latin typeface="Segoe UI"/>
              </a:defRPr>
            </a:pPr>
            <a:r>
              <a:rPr dirty="0"/>
              <a:t>ACADEMIC GUIDANCE &amp; INSTITUTION</a:t>
            </a:r>
          </a:p>
          <a:p>
            <a:pPr>
              <a:spcBef>
                <a:spcPts val="600"/>
              </a:spcBef>
              <a:defRPr sz="950">
                <a:solidFill>
                  <a:srgbClr val="1F2937"/>
                </a:solidFill>
                <a:latin typeface="Segoe UI"/>
              </a:defRPr>
            </a:pPr>
            <a:r>
              <a:rPr dirty="0"/>
              <a:t>Faculty Project Supervisor:</a:t>
            </a:r>
            <a:br>
              <a:rPr dirty="0"/>
            </a:br>
            <a:r>
              <a:rPr dirty="0"/>
              <a:t>Ms. K. </a:t>
            </a:r>
            <a:r>
              <a:rPr lang="en-IN" dirty="0"/>
              <a:t>Divya</a:t>
            </a:r>
            <a:r>
              <a:rPr dirty="0"/>
              <a:t>, Assistant Professor, Dept. of CS</a:t>
            </a:r>
            <a:r>
              <a:rPr lang="en-IN" dirty="0"/>
              <a:t>M</a:t>
            </a:r>
            <a:endParaRPr dirty="0"/>
          </a:p>
          <a:p>
            <a:pPr>
              <a:spcBef>
                <a:spcPts val="500"/>
              </a:spcBef>
              <a:defRPr sz="950">
                <a:solidFill>
                  <a:srgbClr val="1F2937"/>
                </a:solidFill>
                <a:latin typeface="Segoe UI"/>
              </a:defRPr>
            </a:pPr>
            <a:r>
              <a:rPr dirty="0"/>
              <a:t>Head of Department:</a:t>
            </a:r>
            <a:br>
              <a:rPr dirty="0"/>
            </a:br>
            <a:r>
              <a:rPr dirty="0"/>
              <a:t>Dr. Sagar Yeruva, Assoc. Professor &amp; HOD</a:t>
            </a:r>
          </a:p>
          <a:p>
            <a:pPr>
              <a:spcBef>
                <a:spcPts val="500"/>
              </a:spcBef>
              <a:defRPr sz="900">
                <a:solidFill>
                  <a:srgbClr val="6B7280"/>
                </a:solidFill>
                <a:latin typeface="Segoe UI"/>
              </a:defRPr>
            </a:pPr>
            <a:r>
              <a:rPr dirty="0"/>
              <a:t>Institution:</a:t>
            </a:r>
            <a:br>
              <a:rPr dirty="0"/>
            </a:br>
            <a:r>
              <a:rPr dirty="0"/>
              <a:t>Vallurupalli Nageswara Rao </a:t>
            </a:r>
            <a:r>
              <a:rPr dirty="0" err="1"/>
              <a:t>Vignana</a:t>
            </a:r>
            <a:r>
              <a:rPr dirty="0"/>
              <a:t> Jyothi Institute of Engineering and Technology (VNR VJIET), Hyderabad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EXECUTIVE SUMMARY &amp; PROBLEM CONTEXT</a:t>
            </a:r>
          </a:p>
        </p:txBody>
      </p:sp>
      <p:sp>
        <p:nvSpPr>
          <p:cNvPr id="3" name="TextBox 2"/>
          <p:cNvSpPr txBox="1"/>
          <p:nvPr/>
        </p:nvSpPr>
        <p:spPr>
          <a:xfrm>
            <a:off x="731520" y="603504"/>
            <a:ext cx="10728655" cy="411480"/>
          </a:xfrm>
          <a:prstGeom prst="rect">
            <a:avLst/>
          </a:prstGeom>
          <a:noFill/>
        </p:spPr>
        <p:txBody>
          <a:bodyPr wrap="square" lIns="0" tIns="0" rIns="0" bIns="0">
            <a:spAutoFit/>
          </a:bodyPr>
          <a:lstStyle/>
          <a:p>
            <a:pPr>
              <a:defRPr sz="2100" b="1">
                <a:solidFill>
                  <a:srgbClr val="14532D"/>
                </a:solidFill>
                <a:latin typeface="Segoe UI"/>
              </a:defRPr>
            </a:pPr>
            <a:r>
              <a:t>Problem Statement &amp; System Overview</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Analyzing traditional farm-to-retail supply chain friction and introducing YieldGrid's direct architecture.</a:t>
            </a:r>
          </a:p>
        </p:txBody>
      </p:sp>
      <p:sp>
        <p:nvSpPr>
          <p:cNvPr id="5" name="Rounded Rectangle 4"/>
          <p:cNvSpPr/>
          <p:nvPr/>
        </p:nvSpPr>
        <p:spPr>
          <a:xfrm>
            <a:off x="731520" y="1417320"/>
            <a:ext cx="5230368" cy="33375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17320"/>
            <a:ext cx="5230368"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81912"/>
            <a:ext cx="4773168" cy="2554545"/>
          </a:xfrm>
          <a:prstGeom prst="rect">
            <a:avLst/>
          </a:prstGeom>
          <a:noFill/>
        </p:spPr>
        <p:txBody>
          <a:bodyPr wrap="square" lIns="0" tIns="0" rIns="0" bIns="0">
            <a:spAutoFit/>
          </a:bodyPr>
          <a:lstStyle/>
          <a:p>
            <a:pPr>
              <a:defRPr sz="1100" b="1">
                <a:solidFill>
                  <a:srgbClr val="DC2626"/>
                </a:solidFill>
                <a:latin typeface="Segoe UI"/>
              </a:defRPr>
            </a:pPr>
            <a:r>
              <a:rPr sz="2000" dirty="0"/>
              <a:t>PROBLEM STATEMENT (Agricultural Supply Chain Inefficiencies)</a:t>
            </a:r>
          </a:p>
          <a:p>
            <a:r>
              <a:rPr lang="en-IN" dirty="0"/>
              <a:t>The agricultural supply chain suffers from high intermediary margins, inventory fragmentation, produce spoilage, and inefficient manual order management. The lack of digital inventory tracking and integrated sales records reduces transparency, limits farmers’ earnings, and makes demand analysis difficult.</a:t>
            </a:r>
          </a:p>
        </p:txBody>
      </p:sp>
      <p:sp>
        <p:nvSpPr>
          <p:cNvPr id="8" name="Rounded Rectangle 7"/>
          <p:cNvSpPr/>
          <p:nvPr/>
        </p:nvSpPr>
        <p:spPr>
          <a:xfrm>
            <a:off x="6217920" y="1417320"/>
            <a:ext cx="5230368" cy="33375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0" y="1417320"/>
            <a:ext cx="5230368"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581912"/>
            <a:ext cx="4773168" cy="3108543"/>
          </a:xfrm>
          <a:prstGeom prst="rect">
            <a:avLst/>
          </a:prstGeom>
          <a:noFill/>
        </p:spPr>
        <p:txBody>
          <a:bodyPr wrap="square" lIns="0" tIns="0" rIns="0" bIns="0">
            <a:spAutoFit/>
          </a:bodyPr>
          <a:lstStyle/>
          <a:p>
            <a:pPr>
              <a:defRPr sz="1100" b="1">
                <a:solidFill>
                  <a:srgbClr val="16A34A"/>
                </a:solidFill>
                <a:latin typeface="Segoe UI"/>
              </a:defRPr>
            </a:pPr>
            <a:r>
              <a:rPr sz="2000" dirty="0"/>
              <a:t>INTRODUCTION &amp; SOLUTION (</a:t>
            </a:r>
            <a:r>
              <a:rPr sz="2000" dirty="0" err="1"/>
              <a:t>YieldGrid</a:t>
            </a:r>
            <a:r>
              <a:rPr sz="2000" dirty="0"/>
              <a:t> Architecture)</a:t>
            </a:r>
          </a:p>
          <a:p>
            <a:r>
              <a:rPr lang="en-IN" dirty="0" err="1"/>
              <a:t>YieldGrid</a:t>
            </a:r>
            <a:r>
              <a:rPr lang="en-IN" dirty="0"/>
              <a:t> is a Java-based desktop application that connects farmers directly with customers, reducing intermediary costs. It uses MySQL transactions for inventory consistency, role-based authentication with secure password hashing, and a modular MVC/DAO architecture. The project demonstrates Java OOP concepts, including inheritance, exception handling, collections, and JDBC connectivity.</a:t>
            </a:r>
          </a:p>
        </p:txBody>
      </p:sp>
      <p:sp>
        <p:nvSpPr>
          <p:cNvPr id="11" name="Rounded Rectangle 10"/>
          <p:cNvSpPr/>
          <p:nvPr/>
        </p:nvSpPr>
        <p:spPr>
          <a:xfrm>
            <a:off x="731520" y="4892040"/>
            <a:ext cx="10728655" cy="137160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4892040"/>
            <a:ext cx="10728655" cy="54864"/>
          </a:xfrm>
          <a:prstGeom prst="rect">
            <a:avLst/>
          </a:prstGeom>
          <a:solidFill>
            <a:srgbClr val="145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001768"/>
            <a:ext cx="10271455" cy="228600"/>
          </a:xfrm>
          <a:prstGeom prst="rect">
            <a:avLst/>
          </a:prstGeom>
          <a:noFill/>
        </p:spPr>
        <p:txBody>
          <a:bodyPr wrap="none" lIns="0" tIns="0" rIns="0" bIns="0">
            <a:spAutoFit/>
          </a:bodyPr>
          <a:lstStyle/>
          <a:p>
            <a:pPr>
              <a:defRPr sz="950" b="1">
                <a:solidFill>
                  <a:srgbClr val="14532D"/>
                </a:solidFill>
                <a:latin typeface="Segoe UI"/>
              </a:defRPr>
            </a:pPr>
            <a:r>
              <a:t>INTENDED END-TO-END TRANSACTIONAL WORKFLOW</a:t>
            </a:r>
          </a:p>
        </p:txBody>
      </p:sp>
      <p:sp>
        <p:nvSpPr>
          <p:cNvPr id="14" name="Rounded Rectangle 13"/>
          <p:cNvSpPr/>
          <p:nvPr/>
        </p:nvSpPr>
        <p:spPr>
          <a:xfrm>
            <a:off x="960120" y="5276088"/>
            <a:ext cx="1965960" cy="841248"/>
          </a:xfrm>
          <a:prstGeom prst="round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3272" y="5349240"/>
            <a:ext cx="1819656" cy="694944"/>
          </a:xfrm>
          <a:prstGeom prst="rect">
            <a:avLst/>
          </a:prstGeom>
          <a:noFill/>
        </p:spPr>
        <p:txBody>
          <a:bodyPr wrap="square" lIns="0" tIns="0" rIns="0" bIns="0">
            <a:spAutoFit/>
          </a:bodyPr>
          <a:lstStyle/>
          <a:p>
            <a:pPr>
              <a:defRPr sz="950" b="1">
                <a:solidFill>
                  <a:srgbClr val="14532D"/>
                </a:solidFill>
                <a:latin typeface="Segoe UI"/>
              </a:defRPr>
            </a:pPr>
            <a:r>
              <a:t>1. Farmer Lists Crops</a:t>
            </a:r>
          </a:p>
          <a:p>
            <a:pPr>
              <a:spcBef>
                <a:spcPts val="200"/>
              </a:spcBef>
              <a:defRPr sz="800">
                <a:solidFill>
                  <a:srgbClr val="6B7280"/>
                </a:solidFill>
                <a:latin typeface="Segoe UI"/>
              </a:defRPr>
            </a:pPr>
            <a:r>
              <a:t>Stock, unit price, produce availability CRUD</a:t>
            </a:r>
          </a:p>
        </p:txBody>
      </p:sp>
      <p:sp>
        <p:nvSpPr>
          <p:cNvPr id="16" name="Rounded Rectangle 15"/>
          <p:cNvSpPr/>
          <p:nvPr/>
        </p:nvSpPr>
        <p:spPr>
          <a:xfrm>
            <a:off x="3054096" y="5276088"/>
            <a:ext cx="1965960" cy="841248"/>
          </a:xfrm>
          <a:prstGeom prst="round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127248" y="5349240"/>
            <a:ext cx="1819656" cy="694944"/>
          </a:xfrm>
          <a:prstGeom prst="rect">
            <a:avLst/>
          </a:prstGeom>
          <a:noFill/>
        </p:spPr>
        <p:txBody>
          <a:bodyPr wrap="square" lIns="0" tIns="0" rIns="0" bIns="0">
            <a:spAutoFit/>
          </a:bodyPr>
          <a:lstStyle/>
          <a:p>
            <a:pPr>
              <a:defRPr sz="950" b="1">
                <a:solidFill>
                  <a:srgbClr val="14532D"/>
                </a:solidFill>
                <a:latin typeface="Segoe UI"/>
              </a:defRPr>
            </a:pPr>
            <a:r>
              <a:t>2. Customer Browses</a:t>
            </a:r>
          </a:p>
          <a:p>
            <a:pPr>
              <a:spcBef>
                <a:spcPts val="200"/>
              </a:spcBef>
              <a:defRPr sz="800">
                <a:solidFill>
                  <a:srgbClr val="6B7280"/>
                </a:solidFill>
                <a:latin typeface="Segoe UI"/>
              </a:defRPr>
            </a:pPr>
            <a:r>
              <a:t>Filter catalog, search produce, view stock</a:t>
            </a:r>
          </a:p>
        </p:txBody>
      </p:sp>
      <p:sp>
        <p:nvSpPr>
          <p:cNvPr id="18" name="Rounded Rectangle 17"/>
          <p:cNvSpPr/>
          <p:nvPr/>
        </p:nvSpPr>
        <p:spPr>
          <a:xfrm>
            <a:off x="5148072" y="5276088"/>
            <a:ext cx="1965960" cy="841248"/>
          </a:xfrm>
          <a:prstGeom prst="round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221224" y="5349240"/>
            <a:ext cx="1819656" cy="694944"/>
          </a:xfrm>
          <a:prstGeom prst="rect">
            <a:avLst/>
          </a:prstGeom>
          <a:noFill/>
        </p:spPr>
        <p:txBody>
          <a:bodyPr wrap="square" lIns="0" tIns="0" rIns="0" bIns="0">
            <a:spAutoFit/>
          </a:bodyPr>
          <a:lstStyle/>
          <a:p>
            <a:pPr>
              <a:defRPr sz="950" b="1">
                <a:solidFill>
                  <a:srgbClr val="14532D"/>
                </a:solidFill>
                <a:latin typeface="Segoe UI"/>
              </a:defRPr>
            </a:pPr>
            <a:r>
              <a:t>3. Customer Orders</a:t>
            </a:r>
          </a:p>
          <a:p>
            <a:pPr>
              <a:spcBef>
                <a:spcPts val="200"/>
              </a:spcBef>
              <a:defRPr sz="800">
                <a:solidFill>
                  <a:srgbClr val="6B7280"/>
                </a:solidFill>
                <a:latin typeface="Segoe UI"/>
              </a:defRPr>
            </a:pPr>
            <a:r>
              <a:t>Atomic multi-item cart checkout &amp; deduction</a:t>
            </a:r>
          </a:p>
        </p:txBody>
      </p:sp>
      <p:sp>
        <p:nvSpPr>
          <p:cNvPr id="20" name="Rounded Rectangle 19"/>
          <p:cNvSpPr/>
          <p:nvPr/>
        </p:nvSpPr>
        <p:spPr>
          <a:xfrm>
            <a:off x="7242048" y="5276088"/>
            <a:ext cx="1965960" cy="841248"/>
          </a:xfrm>
          <a:prstGeom prst="round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0" y="5349240"/>
            <a:ext cx="1819656" cy="694944"/>
          </a:xfrm>
          <a:prstGeom prst="rect">
            <a:avLst/>
          </a:prstGeom>
          <a:noFill/>
        </p:spPr>
        <p:txBody>
          <a:bodyPr wrap="square" lIns="0" tIns="0" rIns="0" bIns="0">
            <a:spAutoFit/>
          </a:bodyPr>
          <a:lstStyle/>
          <a:p>
            <a:pPr>
              <a:defRPr sz="950" b="1">
                <a:solidFill>
                  <a:srgbClr val="14532D"/>
                </a:solidFill>
                <a:latin typeface="Segoe UI"/>
              </a:defRPr>
            </a:pPr>
            <a:r>
              <a:t>4. Farmer Processes</a:t>
            </a:r>
          </a:p>
          <a:p>
            <a:pPr>
              <a:spcBef>
                <a:spcPts val="200"/>
              </a:spcBef>
              <a:defRPr sz="800">
                <a:solidFill>
                  <a:srgbClr val="6B7280"/>
                </a:solidFill>
                <a:latin typeface="Segoe UI"/>
              </a:defRPr>
            </a:pPr>
            <a:r>
              <a:t>Advance order: PENDING → CONFIRMED → COMPLETED</a:t>
            </a:r>
          </a:p>
        </p:txBody>
      </p:sp>
      <p:sp>
        <p:nvSpPr>
          <p:cNvPr id="22" name="Rounded Rectangle 21"/>
          <p:cNvSpPr/>
          <p:nvPr/>
        </p:nvSpPr>
        <p:spPr>
          <a:xfrm>
            <a:off x="9336024" y="5276088"/>
            <a:ext cx="1965960" cy="841248"/>
          </a:xfrm>
          <a:prstGeom prst="round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09176" y="5349240"/>
            <a:ext cx="1819656" cy="694944"/>
          </a:xfrm>
          <a:prstGeom prst="rect">
            <a:avLst/>
          </a:prstGeom>
          <a:noFill/>
        </p:spPr>
        <p:txBody>
          <a:bodyPr wrap="square" lIns="0" tIns="0" rIns="0" bIns="0">
            <a:spAutoFit/>
          </a:bodyPr>
          <a:lstStyle/>
          <a:p>
            <a:pPr>
              <a:defRPr sz="950" b="1">
                <a:solidFill>
                  <a:srgbClr val="14532D"/>
                </a:solidFill>
                <a:latin typeface="Segoe UI"/>
              </a:defRPr>
            </a:pPr>
            <a:r>
              <a:t>5. Customer Tracks</a:t>
            </a:r>
          </a:p>
          <a:p>
            <a:pPr>
              <a:spcBef>
                <a:spcPts val="200"/>
              </a:spcBef>
              <a:defRPr sz="800">
                <a:solidFill>
                  <a:srgbClr val="6B7280"/>
                </a:solidFill>
                <a:latin typeface="Segoe UI"/>
              </a:defRPr>
            </a:pPr>
            <a:r>
              <a:t>Live pipeline: fulfillment tracking &amp; order history</a:t>
            </a:r>
          </a:p>
        </p:txBody>
      </p:sp>
      <p:sp>
        <p:nvSpPr>
          <p:cNvPr id="24" name="Rectangle 23"/>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26" name="TextBox 25"/>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2 of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UML BEHAVIORAL MODELING · SYSTEM INTERACTIONS</a:t>
            </a:r>
          </a:p>
        </p:txBody>
      </p:sp>
      <p:sp>
        <p:nvSpPr>
          <p:cNvPr id="3" name="TextBox 2"/>
          <p:cNvSpPr txBox="1"/>
          <p:nvPr/>
        </p:nvSpPr>
        <p:spPr>
          <a:xfrm>
            <a:off x="731520" y="603504"/>
            <a:ext cx="10728655" cy="411480"/>
          </a:xfrm>
          <a:prstGeom prst="rect">
            <a:avLst/>
          </a:prstGeom>
          <a:noFill/>
        </p:spPr>
        <p:txBody>
          <a:bodyPr wrap="square" lIns="0" tIns="0" rIns="0" bIns="0">
            <a:spAutoFit/>
          </a:bodyPr>
          <a:lstStyle/>
          <a:p>
            <a:pPr>
              <a:defRPr sz="2100" b="1">
                <a:solidFill>
                  <a:srgbClr val="14532D"/>
                </a:solidFill>
                <a:latin typeface="Segoe UI"/>
              </a:defRPr>
            </a:pPr>
            <a:r>
              <a:t>Use Case Diagram</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Capturing functional boundaries, role actors, and core interactions across the farm-to-retail lifecycle.</a:t>
            </a:r>
          </a:p>
        </p:txBody>
      </p:sp>
      <p:sp>
        <p:nvSpPr>
          <p:cNvPr id="5" name="Rounded Rectangle 4"/>
          <p:cNvSpPr/>
          <p:nvPr/>
        </p:nvSpPr>
        <p:spPr>
          <a:xfrm>
            <a:off x="731520" y="1417320"/>
            <a:ext cx="7818120"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1_Use_Case_Diagram.png"/>
          <p:cNvPicPr>
            <a:picLocks noChangeAspect="1"/>
          </p:cNvPicPr>
          <p:nvPr/>
        </p:nvPicPr>
        <p:blipFill>
          <a:blip r:embed="rId2"/>
          <a:stretch>
            <a:fillRect/>
          </a:stretch>
        </p:blipFill>
        <p:spPr>
          <a:xfrm>
            <a:off x="841248" y="1551816"/>
            <a:ext cx="7598664" cy="4577326"/>
          </a:xfrm>
          <a:prstGeom prst="rect">
            <a:avLst/>
          </a:prstGeom>
        </p:spPr>
      </p:pic>
      <p:sp>
        <p:nvSpPr>
          <p:cNvPr id="7" name="Rounded Rectangle 6"/>
          <p:cNvSpPr/>
          <p:nvPr/>
        </p:nvSpPr>
        <p:spPr>
          <a:xfrm>
            <a:off x="8705088" y="1417320"/>
            <a:ext cx="2752344"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5088" y="1417320"/>
            <a:ext cx="2752344"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81912"/>
            <a:ext cx="2386584" cy="4526280"/>
          </a:xfrm>
          <a:prstGeom prst="rect">
            <a:avLst/>
          </a:prstGeom>
          <a:noFill/>
        </p:spPr>
        <p:txBody>
          <a:bodyPr wrap="square" lIns="0" tIns="0" rIns="0" bIns="0">
            <a:spAutoFit/>
          </a:bodyPr>
          <a:lstStyle/>
          <a:p>
            <a:pPr>
              <a:defRPr sz="1000" b="1">
                <a:solidFill>
                  <a:srgbClr val="14532D"/>
                </a:solidFill>
                <a:latin typeface="Segoe UI"/>
              </a:defRPr>
            </a:pPr>
            <a:r>
              <a:t>USE CASE SPECIFICATIONS</a:t>
            </a:r>
          </a:p>
          <a:p>
            <a:pPr>
              <a:spcBef>
                <a:spcPts val="800"/>
              </a:spcBef>
              <a:defRPr sz="950" b="1">
                <a:solidFill>
                  <a:srgbClr val="16A34A"/>
                </a:solidFill>
                <a:latin typeface="Segoe UI"/>
              </a:defRPr>
            </a:pPr>
            <a:r>
              <a:t>System Actors &amp; Roles</a:t>
            </a:r>
          </a:p>
          <a:p>
            <a:pPr>
              <a:spcBef>
                <a:spcPts val="300"/>
              </a:spcBef>
              <a:defRPr sz="850">
                <a:solidFill>
                  <a:srgbClr val="1F2937"/>
                </a:solidFill>
                <a:latin typeface="Segoe UI"/>
              </a:defRPr>
            </a:pPr>
            <a:r>
              <a:t>• Farmer: Manage crop listings (CRUD), update stock &amp; prices, process incoming orders, inspect revenue.</a:t>
            </a:r>
          </a:p>
          <a:p>
            <a:pPr>
              <a:spcBef>
                <a:spcPts val="300"/>
              </a:spcBef>
              <a:defRPr sz="850">
                <a:solidFill>
                  <a:srgbClr val="1F2937"/>
                </a:solidFill>
                <a:latin typeface="Segoe UI"/>
              </a:defRPr>
            </a:pPr>
            <a:r>
              <a:t>• Customer: Search fresh produce, maintain cart, execute atomic checkout, track live fulfillment.</a:t>
            </a:r>
          </a:p>
          <a:p>
            <a:pPr>
              <a:spcBef>
                <a:spcPts val="300"/>
              </a:spcBef>
              <a:defRPr sz="850">
                <a:solidFill>
                  <a:srgbClr val="1F2937"/>
                </a:solidFill>
                <a:latin typeface="Segoe UI"/>
              </a:defRPr>
            </a:pPr>
            <a:r>
              <a:t>• Administrator: Moderate users, audit crop catalog, oversee orders, monitor system metrics.</a:t>
            </a:r>
          </a:p>
          <a:p>
            <a:pPr>
              <a:spcBef>
                <a:spcPts val="800"/>
              </a:spcBef>
              <a:defRPr sz="950" b="1">
                <a:solidFill>
                  <a:srgbClr val="16A34A"/>
                </a:solidFill>
                <a:latin typeface="Segoe UI"/>
              </a:defRPr>
            </a:pPr>
            <a:r>
              <a:t>Core Use Cases &amp; &lt;&lt;include&gt;&gt;</a:t>
            </a:r>
          </a:p>
          <a:p>
            <a:pPr>
              <a:spcBef>
                <a:spcPts val="300"/>
              </a:spcBef>
              <a:defRPr sz="850">
                <a:solidFill>
                  <a:srgbClr val="1F2937"/>
                </a:solidFill>
                <a:latin typeface="Segoe UI"/>
              </a:defRPr>
            </a:pPr>
            <a:r>
              <a:t>• Place Order &lt;&lt;includes&gt;&gt; Verify Stock Availability &amp; Calculate Subtotals.</a:t>
            </a:r>
          </a:p>
          <a:p>
            <a:pPr>
              <a:spcBef>
                <a:spcPts val="300"/>
              </a:spcBef>
              <a:defRPr sz="850">
                <a:solidFill>
                  <a:srgbClr val="1F2937"/>
                </a:solidFill>
                <a:latin typeface="Segoe UI"/>
              </a:defRPr>
            </a:pPr>
            <a:r>
              <a:t>• User Login &lt;&lt;includes&gt;&gt; Verify PBKDF2 Hash Credentials.</a:t>
            </a:r>
          </a:p>
          <a:p>
            <a:pPr>
              <a:spcBef>
                <a:spcPts val="300"/>
              </a:spcBef>
              <a:defRPr sz="850">
                <a:solidFill>
                  <a:srgbClr val="1F2937"/>
                </a:solidFill>
                <a:latin typeface="Segoe UI"/>
              </a:defRPr>
            </a:pPr>
            <a:r>
              <a:t>• Boundary: Encompasses all desktop services inside YieldGrid system.</a:t>
            </a:r>
          </a:p>
          <a:p>
            <a:pPr>
              <a:spcBef>
                <a:spcPts val="800"/>
              </a:spcBef>
              <a:defRPr sz="950" b="1">
                <a:solidFill>
                  <a:srgbClr val="16A34A"/>
                </a:solidFill>
                <a:latin typeface="Segoe UI"/>
              </a:defRPr>
            </a:pPr>
            <a:r>
              <a:t>Implementation Grounding</a:t>
            </a:r>
          </a:p>
          <a:p>
            <a:pPr>
              <a:spcBef>
                <a:spcPts val="300"/>
              </a:spcBef>
              <a:defRPr sz="850">
                <a:solidFill>
                  <a:srgbClr val="1F2937"/>
                </a:solidFill>
                <a:latin typeface="Segoe UI"/>
              </a:defRPr>
            </a:pPr>
            <a:r>
              <a:t>• Mapped directly to yieldgrid.service (CropService, OrderService, AuthenticationService).</a:t>
            </a:r>
          </a:p>
        </p:txBody>
      </p:sp>
      <p:sp>
        <p:nvSpPr>
          <p:cNvPr id="10" name="Rectangle 9"/>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12" name="TextBox 11"/>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3 of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UML BEHAVIORAL MODELING · BUSINESS WORKFLOW</a:t>
            </a:r>
          </a:p>
        </p:txBody>
      </p:sp>
      <p:sp>
        <p:nvSpPr>
          <p:cNvPr id="3" name="TextBox 2"/>
          <p:cNvSpPr txBox="1"/>
          <p:nvPr/>
        </p:nvSpPr>
        <p:spPr>
          <a:xfrm>
            <a:off x="731520" y="603504"/>
            <a:ext cx="10728655" cy="411480"/>
          </a:xfrm>
          <a:prstGeom prst="rect">
            <a:avLst/>
          </a:prstGeom>
          <a:noFill/>
        </p:spPr>
        <p:txBody>
          <a:bodyPr wrap="square" lIns="0" tIns="0" rIns="0" bIns="0">
            <a:spAutoFit/>
          </a:bodyPr>
          <a:lstStyle/>
          <a:p>
            <a:pPr>
              <a:defRPr sz="2100" b="1">
                <a:solidFill>
                  <a:srgbClr val="14532D"/>
                </a:solidFill>
                <a:latin typeface="Segoe UI"/>
              </a:defRPr>
            </a:pPr>
            <a:r>
              <a:t>Activity Diagram</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Modeling end-to-end transactional execution and decision pathways across Customer, System, and Farmer swimlanes.</a:t>
            </a:r>
          </a:p>
        </p:txBody>
      </p:sp>
      <p:sp>
        <p:nvSpPr>
          <p:cNvPr id="5" name="Rounded Rectangle 4"/>
          <p:cNvSpPr/>
          <p:nvPr/>
        </p:nvSpPr>
        <p:spPr>
          <a:xfrm>
            <a:off x="731520" y="1417320"/>
            <a:ext cx="7818120"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705088" y="1417320"/>
            <a:ext cx="2752344"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5088" y="1417320"/>
            <a:ext cx="2752344"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81912"/>
            <a:ext cx="2386584" cy="4526280"/>
          </a:xfrm>
          <a:prstGeom prst="rect">
            <a:avLst/>
          </a:prstGeom>
          <a:noFill/>
        </p:spPr>
        <p:txBody>
          <a:bodyPr wrap="square" lIns="0" tIns="0" rIns="0" bIns="0">
            <a:spAutoFit/>
          </a:bodyPr>
          <a:lstStyle/>
          <a:p>
            <a:pPr>
              <a:defRPr sz="1000" b="1">
                <a:solidFill>
                  <a:srgbClr val="14532D"/>
                </a:solidFill>
                <a:latin typeface="Segoe UI"/>
              </a:defRPr>
            </a:pPr>
            <a:r>
              <a:t>ACTIVITY FLOW SPECIFICATIONS</a:t>
            </a:r>
          </a:p>
          <a:p>
            <a:pPr>
              <a:spcBef>
                <a:spcPts val="800"/>
              </a:spcBef>
              <a:defRPr sz="950" b="1">
                <a:solidFill>
                  <a:srgbClr val="16A34A"/>
                </a:solidFill>
                <a:latin typeface="Segoe UI"/>
              </a:defRPr>
            </a:pPr>
            <a:r>
              <a:t>Workflow Swimlanes</a:t>
            </a:r>
          </a:p>
          <a:p>
            <a:pPr>
              <a:spcBef>
                <a:spcPts val="300"/>
              </a:spcBef>
              <a:defRPr sz="850">
                <a:solidFill>
                  <a:srgbClr val="1F2937"/>
                </a:solidFill>
                <a:latin typeface="Segoe UI"/>
              </a:defRPr>
            </a:pPr>
            <a:r>
              <a:t>• Customer Lane: Authenticate, browse catalog, manage shopping cart, and submit checkout.</a:t>
            </a:r>
          </a:p>
          <a:p>
            <a:pPr>
              <a:spcBef>
                <a:spcPts val="300"/>
              </a:spcBef>
              <a:defRPr sz="850">
                <a:solidFill>
                  <a:srgbClr val="1F2937"/>
                </a:solidFill>
                <a:latin typeface="Segoe UI"/>
              </a:defRPr>
            </a:pPr>
            <a:r>
              <a:t>• System Lane: Coordinate stock verification, start ACID transaction, decrement stock, generate order.</a:t>
            </a:r>
          </a:p>
          <a:p>
            <a:pPr>
              <a:spcBef>
                <a:spcPts val="300"/>
              </a:spcBef>
              <a:defRPr sz="850">
                <a:solidFill>
                  <a:srgbClr val="1F2937"/>
                </a:solidFill>
                <a:latin typeface="Segoe UI"/>
              </a:defRPr>
            </a:pPr>
            <a:r>
              <a:t>• Farmer Lane: View incoming order queue, confirm produce readiness, advance status to Shipped.</a:t>
            </a:r>
          </a:p>
          <a:p>
            <a:pPr>
              <a:spcBef>
                <a:spcPts val="800"/>
              </a:spcBef>
              <a:defRPr sz="950" b="1">
                <a:solidFill>
                  <a:srgbClr val="16A34A"/>
                </a:solidFill>
                <a:latin typeface="Segoe UI"/>
              </a:defRPr>
            </a:pPr>
            <a:r>
              <a:t>Decision Points &amp; Logic</a:t>
            </a:r>
          </a:p>
          <a:p>
            <a:pPr>
              <a:spcBef>
                <a:spcPts val="300"/>
              </a:spcBef>
              <a:defRPr sz="850">
                <a:solidFill>
                  <a:srgbClr val="1F2937"/>
                </a:solidFill>
                <a:latin typeface="Segoe UI"/>
              </a:defRPr>
            </a:pPr>
            <a:r>
              <a:t>• [Stock &gt;= Requested]: Deduct inventory and commit transaction.</a:t>
            </a:r>
          </a:p>
          <a:p>
            <a:pPr>
              <a:spcBef>
                <a:spcPts val="300"/>
              </a:spcBef>
              <a:defRPr sz="850">
                <a:solidFill>
                  <a:srgbClr val="1F2937"/>
                </a:solidFill>
                <a:latin typeface="Segoe UI"/>
              </a:defRPr>
            </a:pPr>
            <a:r>
              <a:t>• [Insufficient Stock]: Trigger conn.rollback() and notify customer of shortage.</a:t>
            </a:r>
          </a:p>
          <a:p>
            <a:pPr>
              <a:spcBef>
                <a:spcPts val="800"/>
              </a:spcBef>
              <a:defRPr sz="950" b="1">
                <a:solidFill>
                  <a:srgbClr val="16A34A"/>
                </a:solidFill>
                <a:latin typeface="Segoe UI"/>
              </a:defRPr>
            </a:pPr>
            <a:r>
              <a:t>Terminal Activity</a:t>
            </a:r>
          </a:p>
          <a:p>
            <a:pPr>
              <a:spcBef>
                <a:spcPts val="300"/>
              </a:spcBef>
              <a:defRPr sz="850">
                <a:solidFill>
                  <a:srgbClr val="1F2937"/>
                </a:solidFill>
                <a:latin typeface="Segoe UI"/>
              </a:defRPr>
            </a:pPr>
            <a:r>
              <a:t>• Customer receives dispatch and delivery confirmation; transaction finalizes in sales ledger.</a:t>
            </a:r>
          </a:p>
        </p:txBody>
      </p:sp>
      <p:sp>
        <p:nvSpPr>
          <p:cNvPr id="10" name="Rectangle 9"/>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12" name="TextBox 11"/>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4 of 12</a:t>
            </a:r>
          </a:p>
        </p:txBody>
      </p:sp>
      <p:pic>
        <p:nvPicPr>
          <p:cNvPr id="20" name="Picture 19">
            <a:extLst>
              <a:ext uri="{FF2B5EF4-FFF2-40B4-BE49-F238E27FC236}">
                <a16:creationId xmlns:a16="http://schemas.microsoft.com/office/drawing/2014/main" id="{9F0A351B-BB1A-6E98-B93A-D1FA9B8585AF}"/>
              </a:ext>
            </a:extLst>
          </p:cNvPr>
          <p:cNvPicPr>
            <a:picLocks noChangeAspect="1"/>
          </p:cNvPicPr>
          <p:nvPr/>
        </p:nvPicPr>
        <p:blipFill>
          <a:blip r:embed="rId2"/>
          <a:stretch>
            <a:fillRect/>
          </a:stretch>
        </p:blipFill>
        <p:spPr>
          <a:xfrm>
            <a:off x="1371656" y="1548420"/>
            <a:ext cx="6396639" cy="46481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UML STRUCTURAL MODELING · OOP DESIGN PATTERNS</a:t>
            </a:r>
          </a:p>
        </p:txBody>
      </p:sp>
      <p:sp>
        <p:nvSpPr>
          <p:cNvPr id="3" name="TextBox 2"/>
          <p:cNvSpPr txBox="1"/>
          <p:nvPr/>
        </p:nvSpPr>
        <p:spPr>
          <a:xfrm>
            <a:off x="731520" y="603504"/>
            <a:ext cx="10728655" cy="411480"/>
          </a:xfrm>
          <a:prstGeom prst="rect">
            <a:avLst/>
          </a:prstGeom>
          <a:noFill/>
        </p:spPr>
        <p:txBody>
          <a:bodyPr wrap="square" lIns="0" tIns="0" rIns="0" bIns="0">
            <a:spAutoFit/>
          </a:bodyPr>
          <a:lstStyle/>
          <a:p>
            <a:pPr>
              <a:defRPr sz="2100" b="1">
                <a:solidFill>
                  <a:srgbClr val="14532D"/>
                </a:solidFill>
                <a:latin typeface="Segoe UI"/>
              </a:defRPr>
            </a:pPr>
            <a:r>
              <a:t>Class Diagram</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Object-oriented architecture highlighting Domain Models, Data Access Objects (DAOs), Services, and Swing UI hierarchy.</a:t>
            </a:r>
          </a:p>
        </p:txBody>
      </p:sp>
      <p:sp>
        <p:nvSpPr>
          <p:cNvPr id="5" name="Rounded Rectangle 4"/>
          <p:cNvSpPr/>
          <p:nvPr/>
        </p:nvSpPr>
        <p:spPr>
          <a:xfrm>
            <a:off x="731520" y="1417320"/>
            <a:ext cx="7818120"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3_Class_Diagram.png"/>
          <p:cNvPicPr>
            <a:picLocks noChangeAspect="1"/>
          </p:cNvPicPr>
          <p:nvPr/>
        </p:nvPicPr>
        <p:blipFill>
          <a:blip r:embed="rId2"/>
          <a:stretch>
            <a:fillRect/>
          </a:stretch>
        </p:blipFill>
        <p:spPr>
          <a:xfrm>
            <a:off x="1483042" y="1527048"/>
            <a:ext cx="6315075" cy="4626864"/>
          </a:xfrm>
          <a:prstGeom prst="rect">
            <a:avLst/>
          </a:prstGeom>
        </p:spPr>
      </p:pic>
      <p:sp>
        <p:nvSpPr>
          <p:cNvPr id="7" name="Rounded Rectangle 6"/>
          <p:cNvSpPr/>
          <p:nvPr/>
        </p:nvSpPr>
        <p:spPr>
          <a:xfrm>
            <a:off x="8705088" y="1417320"/>
            <a:ext cx="2752344"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5088" y="1417320"/>
            <a:ext cx="2752344"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81912"/>
            <a:ext cx="2386584" cy="4526280"/>
          </a:xfrm>
          <a:prstGeom prst="rect">
            <a:avLst/>
          </a:prstGeom>
          <a:noFill/>
        </p:spPr>
        <p:txBody>
          <a:bodyPr wrap="square" lIns="0" tIns="0" rIns="0" bIns="0">
            <a:spAutoFit/>
          </a:bodyPr>
          <a:lstStyle/>
          <a:p>
            <a:pPr>
              <a:defRPr sz="1000" b="1">
                <a:solidFill>
                  <a:srgbClr val="14532D"/>
                </a:solidFill>
                <a:latin typeface="Segoe UI"/>
              </a:defRPr>
            </a:pPr>
            <a:r>
              <a:t>CLASS ARCHITECTURE DETAILS</a:t>
            </a:r>
          </a:p>
          <a:p>
            <a:pPr>
              <a:spcBef>
                <a:spcPts val="800"/>
              </a:spcBef>
              <a:defRPr sz="950" b="1">
                <a:solidFill>
                  <a:srgbClr val="16A34A"/>
                </a:solidFill>
                <a:latin typeface="Segoe UI"/>
              </a:defRPr>
            </a:pPr>
            <a:r>
              <a:t>Layer Responsibilities</a:t>
            </a:r>
          </a:p>
          <a:p>
            <a:pPr>
              <a:spcBef>
                <a:spcPts val="300"/>
              </a:spcBef>
              <a:defRPr sz="850">
                <a:solidFill>
                  <a:srgbClr val="1F2937"/>
                </a:solidFill>
                <a:latin typeface="Segoe UI"/>
              </a:defRPr>
            </a:pPr>
            <a:r>
              <a:t>• Model Layer: Encapsulated entities User, Crop, Order, OrderItem, and OrderStatus enum.</a:t>
            </a:r>
          </a:p>
          <a:p>
            <a:pPr>
              <a:spcBef>
                <a:spcPts val="300"/>
              </a:spcBef>
              <a:defRPr sz="850">
                <a:solidFill>
                  <a:srgbClr val="1F2937"/>
                </a:solidFill>
                <a:latin typeface="Segoe UI"/>
              </a:defRPr>
            </a:pPr>
            <a:r>
              <a:t>• DAO Layer: UserDAO, CropDAO, OrderDAO, AdminDAO manage parameterized SQL execution.</a:t>
            </a:r>
          </a:p>
          <a:p>
            <a:pPr>
              <a:spcBef>
                <a:spcPts val="300"/>
              </a:spcBef>
              <a:defRPr sz="850">
                <a:solidFill>
                  <a:srgbClr val="1F2937"/>
                </a:solidFill>
                <a:latin typeface="Segoe UI"/>
              </a:defRPr>
            </a:pPr>
            <a:r>
              <a:t>• Service Layer: AuthenticationService, CropService, OrderService encapsulate business invariants.</a:t>
            </a:r>
          </a:p>
          <a:p>
            <a:pPr>
              <a:spcBef>
                <a:spcPts val="300"/>
              </a:spcBef>
              <a:defRPr sz="850">
                <a:solidFill>
                  <a:srgbClr val="1F2937"/>
                </a:solidFill>
                <a:latin typeface="Segoe UI"/>
              </a:defRPr>
            </a:pPr>
            <a:r>
              <a:t>• UI Layer: Swing frames &amp; panels (LoginFrame, FarmerDashboard, CustomerDashboard).</a:t>
            </a:r>
          </a:p>
          <a:p>
            <a:pPr>
              <a:spcBef>
                <a:spcPts val="800"/>
              </a:spcBef>
              <a:defRPr sz="950" b="1">
                <a:solidFill>
                  <a:srgbClr val="16A34A"/>
                </a:solidFill>
                <a:latin typeface="Segoe UI"/>
              </a:defRPr>
            </a:pPr>
            <a:r>
              <a:t>Key OOP Relationships</a:t>
            </a:r>
          </a:p>
          <a:p>
            <a:pPr>
              <a:spcBef>
                <a:spcPts val="300"/>
              </a:spcBef>
              <a:defRPr sz="850">
                <a:solidFill>
                  <a:srgbClr val="1F2937"/>
                </a:solidFill>
                <a:latin typeface="Segoe UI"/>
              </a:defRPr>
            </a:pPr>
            <a:r>
              <a:t>• Inheritance: Farmer, Customer, and Admin specialize base User.</a:t>
            </a:r>
          </a:p>
          <a:p>
            <a:pPr>
              <a:spcBef>
                <a:spcPts val="300"/>
              </a:spcBef>
              <a:defRPr sz="850">
                <a:solidFill>
                  <a:srgbClr val="1F2937"/>
                </a:solidFill>
                <a:latin typeface="Segoe UI"/>
              </a:defRPr>
            </a:pPr>
            <a:r>
              <a:t>• Composition: Order HAS-A List&lt;OrderItem&gt; (cascade delete on orders).</a:t>
            </a:r>
          </a:p>
          <a:p>
            <a:pPr>
              <a:spcBef>
                <a:spcPts val="300"/>
              </a:spcBef>
              <a:defRPr sz="850">
                <a:solidFill>
                  <a:srgbClr val="1F2937"/>
                </a:solidFill>
                <a:latin typeface="Segoe UI"/>
              </a:defRPr>
            </a:pPr>
            <a:r>
              <a:t>• Aggregation: Farmer HAS-A Crop inventory list.</a:t>
            </a:r>
          </a:p>
        </p:txBody>
      </p:sp>
      <p:sp>
        <p:nvSpPr>
          <p:cNvPr id="10" name="Rectangle 9"/>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12" name="TextBox 11"/>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5 of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UML INTERACTION MODELING · TIME-ORDERED DYNAMICS</a:t>
            </a:r>
          </a:p>
        </p:txBody>
      </p:sp>
      <p:sp>
        <p:nvSpPr>
          <p:cNvPr id="3" name="TextBox 2"/>
          <p:cNvSpPr txBox="1"/>
          <p:nvPr/>
        </p:nvSpPr>
        <p:spPr>
          <a:xfrm>
            <a:off x="731520" y="603504"/>
            <a:ext cx="10728655" cy="411480"/>
          </a:xfrm>
          <a:prstGeom prst="rect">
            <a:avLst/>
          </a:prstGeom>
          <a:noFill/>
        </p:spPr>
        <p:txBody>
          <a:bodyPr wrap="square" lIns="0" tIns="0" rIns="0" bIns="0">
            <a:spAutoFit/>
          </a:bodyPr>
          <a:lstStyle/>
          <a:p>
            <a:pPr>
              <a:defRPr sz="2100" b="1">
                <a:solidFill>
                  <a:srgbClr val="14532D"/>
                </a:solidFill>
                <a:latin typeface="Segoe UI"/>
              </a:defRPr>
            </a:pPr>
            <a:r>
              <a:t>Sequence Diagram</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Chronological message exchange during customer multi-item order placement and atomic inventory deduction.</a:t>
            </a:r>
          </a:p>
        </p:txBody>
      </p:sp>
      <p:sp>
        <p:nvSpPr>
          <p:cNvPr id="5" name="Rounded Rectangle 4"/>
          <p:cNvSpPr/>
          <p:nvPr/>
        </p:nvSpPr>
        <p:spPr>
          <a:xfrm>
            <a:off x="731520" y="1417320"/>
            <a:ext cx="7818120"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705088" y="1417320"/>
            <a:ext cx="2752344"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5088" y="1417320"/>
            <a:ext cx="2752344"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81912"/>
            <a:ext cx="2386584" cy="4526280"/>
          </a:xfrm>
          <a:prstGeom prst="rect">
            <a:avLst/>
          </a:prstGeom>
          <a:noFill/>
        </p:spPr>
        <p:txBody>
          <a:bodyPr wrap="square" lIns="0" tIns="0" rIns="0" bIns="0">
            <a:spAutoFit/>
          </a:bodyPr>
          <a:lstStyle/>
          <a:p>
            <a:pPr>
              <a:defRPr sz="1000" b="1">
                <a:solidFill>
                  <a:srgbClr val="14532D"/>
                </a:solidFill>
                <a:latin typeface="Segoe UI"/>
              </a:defRPr>
            </a:pPr>
            <a:r>
              <a:t>INTERACTION FLOW SEQUENCE</a:t>
            </a:r>
          </a:p>
          <a:p>
            <a:pPr>
              <a:spcBef>
                <a:spcPts val="800"/>
              </a:spcBef>
              <a:defRPr sz="950" b="1">
                <a:solidFill>
                  <a:srgbClr val="16A34A"/>
                </a:solidFill>
                <a:latin typeface="Segoe UI"/>
              </a:defRPr>
            </a:pPr>
            <a:r>
              <a:t>Time-Ordered Participants</a:t>
            </a:r>
          </a:p>
          <a:p>
            <a:pPr>
              <a:spcBef>
                <a:spcPts val="300"/>
              </a:spcBef>
              <a:defRPr sz="850">
                <a:solidFill>
                  <a:srgbClr val="1F2937"/>
                </a:solidFill>
                <a:latin typeface="Segoe UI"/>
              </a:defRPr>
            </a:pPr>
            <a:r>
              <a:t>• Customer (Actor) interacts with CustomerDashboard UI.</a:t>
            </a:r>
          </a:p>
          <a:p>
            <a:pPr>
              <a:spcBef>
                <a:spcPts val="300"/>
              </a:spcBef>
              <a:defRPr sz="850">
                <a:solidFill>
                  <a:srgbClr val="1F2937"/>
                </a:solidFill>
                <a:latin typeface="Segoe UI"/>
              </a:defRPr>
            </a:pPr>
            <a:r>
              <a:t>• CustomerDashboard delegates to OrderService.</a:t>
            </a:r>
          </a:p>
          <a:p>
            <a:pPr>
              <a:spcBef>
                <a:spcPts val="300"/>
              </a:spcBef>
              <a:defRPr sz="850">
                <a:solidFill>
                  <a:srgbClr val="1F2937"/>
                </a:solidFill>
                <a:latin typeface="Segoe UI"/>
              </a:defRPr>
            </a:pPr>
            <a:r>
              <a:t>• OrderService coordinates with OrderDAO.</a:t>
            </a:r>
          </a:p>
          <a:p>
            <a:pPr>
              <a:spcBef>
                <a:spcPts val="300"/>
              </a:spcBef>
              <a:defRPr sz="850">
                <a:solidFill>
                  <a:srgbClr val="1F2937"/>
                </a:solidFill>
                <a:latin typeface="Segoe UI"/>
              </a:defRPr>
            </a:pPr>
            <a:r>
              <a:t>• OrderDAO executes SQL via DBConnection &amp; MySQL Database.</a:t>
            </a:r>
          </a:p>
          <a:p>
            <a:pPr>
              <a:spcBef>
                <a:spcPts val="800"/>
              </a:spcBef>
              <a:defRPr sz="950" b="1">
                <a:solidFill>
                  <a:srgbClr val="16A34A"/>
                </a:solidFill>
                <a:latin typeface="Segoe UI"/>
              </a:defRPr>
            </a:pPr>
            <a:r>
              <a:t>Chronological Message Flow</a:t>
            </a:r>
          </a:p>
          <a:p>
            <a:pPr>
              <a:spcBef>
                <a:spcPts val="300"/>
              </a:spcBef>
              <a:defRPr sz="850">
                <a:solidFill>
                  <a:srgbClr val="1F2937"/>
                </a:solidFill>
                <a:latin typeface="Segoe UI"/>
              </a:defRPr>
            </a:pPr>
            <a:r>
              <a:t>• 1. placeOrder(items) from UI to OrderService.</a:t>
            </a:r>
          </a:p>
          <a:p>
            <a:pPr>
              <a:spcBef>
                <a:spcPts val="300"/>
              </a:spcBef>
              <a:defRPr sz="850">
                <a:solidFill>
                  <a:srgbClr val="1F2937"/>
                </a:solidFill>
                <a:latin typeface="Segoe UI"/>
              </a:defRPr>
            </a:pPr>
            <a:r>
              <a:t>• 2. createOrder() starts transaction (setAutoCommit(false)).</a:t>
            </a:r>
          </a:p>
          <a:p>
            <a:pPr>
              <a:spcBef>
                <a:spcPts val="300"/>
              </a:spcBef>
              <a:defRPr sz="850">
                <a:solidFill>
                  <a:srgbClr val="1F2937"/>
                </a:solidFill>
                <a:latin typeface="Segoe UI"/>
              </a:defRPr>
            </a:pPr>
            <a:r>
              <a:t>• 3. Atomic UPDATE crops stock decrement executed.</a:t>
            </a:r>
          </a:p>
          <a:p>
            <a:pPr>
              <a:spcBef>
                <a:spcPts val="300"/>
              </a:spcBef>
              <a:defRPr sz="850">
                <a:solidFill>
                  <a:srgbClr val="1F2937"/>
                </a:solidFill>
                <a:latin typeface="Segoe UI"/>
              </a:defRPr>
            </a:pPr>
            <a:r>
              <a:t>• 4. INSERT into orders and order_items tables.</a:t>
            </a:r>
          </a:p>
          <a:p>
            <a:pPr>
              <a:spcBef>
                <a:spcPts val="300"/>
              </a:spcBef>
              <a:defRPr sz="850">
                <a:solidFill>
                  <a:srgbClr val="1F2937"/>
                </a:solidFill>
                <a:latin typeface="Segoe UI"/>
              </a:defRPr>
            </a:pPr>
            <a:r>
              <a:t>• 5. conn.commit() finalizes ACID order creation.</a:t>
            </a:r>
          </a:p>
          <a:p>
            <a:pPr>
              <a:spcBef>
                <a:spcPts val="800"/>
              </a:spcBef>
              <a:defRPr sz="950" b="1">
                <a:solidFill>
                  <a:srgbClr val="16A34A"/>
                </a:solidFill>
                <a:latin typeface="Segoe UI"/>
              </a:defRPr>
            </a:pPr>
            <a:r>
              <a:t>Rollback Guarantee</a:t>
            </a:r>
          </a:p>
          <a:p>
            <a:pPr>
              <a:spcBef>
                <a:spcPts val="300"/>
              </a:spcBef>
              <a:defRPr sz="850">
                <a:solidFill>
                  <a:srgbClr val="1F2937"/>
                </a:solidFill>
                <a:latin typeface="Segoe UI"/>
              </a:defRPr>
            </a:pPr>
            <a:r>
              <a:t>• SQLException or shortage triggers conn.rollback(), restoring initial stock.</a:t>
            </a:r>
          </a:p>
        </p:txBody>
      </p:sp>
      <p:sp>
        <p:nvSpPr>
          <p:cNvPr id="10" name="Rectangle 9"/>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12" name="TextBox 11"/>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6 of 12</a:t>
            </a:r>
          </a:p>
        </p:txBody>
      </p:sp>
      <p:pic>
        <p:nvPicPr>
          <p:cNvPr id="16" name="Picture 15">
            <a:extLst>
              <a:ext uri="{FF2B5EF4-FFF2-40B4-BE49-F238E27FC236}">
                <a16:creationId xmlns:a16="http://schemas.microsoft.com/office/drawing/2014/main" id="{4825B9C3-1D44-E4EA-CB3E-F6FFAC6231DA}"/>
              </a:ext>
            </a:extLst>
          </p:cNvPr>
          <p:cNvPicPr>
            <a:picLocks noChangeAspect="1"/>
          </p:cNvPicPr>
          <p:nvPr/>
        </p:nvPicPr>
        <p:blipFill>
          <a:blip r:embed="rId2"/>
          <a:stretch>
            <a:fillRect/>
          </a:stretch>
        </p:blipFill>
        <p:spPr>
          <a:xfrm>
            <a:off x="2233440" y="1551486"/>
            <a:ext cx="4814280" cy="45482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UML INTERACTION MODELING · COLLABORATIVE ARCHITECTURE</a:t>
            </a:r>
          </a:p>
        </p:txBody>
      </p:sp>
      <p:sp>
        <p:nvSpPr>
          <p:cNvPr id="3" name="TextBox 2"/>
          <p:cNvSpPr txBox="1"/>
          <p:nvPr/>
        </p:nvSpPr>
        <p:spPr>
          <a:xfrm>
            <a:off x="731520" y="603504"/>
            <a:ext cx="10728655" cy="411480"/>
          </a:xfrm>
          <a:prstGeom prst="rect">
            <a:avLst/>
          </a:prstGeom>
          <a:noFill/>
        </p:spPr>
        <p:txBody>
          <a:bodyPr wrap="square" lIns="0" tIns="0" rIns="0" bIns="0">
            <a:spAutoFit/>
          </a:bodyPr>
          <a:lstStyle/>
          <a:p>
            <a:pPr>
              <a:defRPr sz="2100" b="1">
                <a:solidFill>
                  <a:srgbClr val="14532D"/>
                </a:solidFill>
                <a:latin typeface="Segoe UI"/>
              </a:defRPr>
            </a:pPr>
            <a:r>
              <a:t>Communication Diagram</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Highlighting structural associations, object topology, and numbered message flows for order placement.</a:t>
            </a:r>
          </a:p>
        </p:txBody>
      </p:sp>
      <p:sp>
        <p:nvSpPr>
          <p:cNvPr id="5" name="Rounded Rectangle 4"/>
          <p:cNvSpPr/>
          <p:nvPr/>
        </p:nvSpPr>
        <p:spPr>
          <a:xfrm>
            <a:off x="731520" y="1417320"/>
            <a:ext cx="7818120"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705088" y="1417320"/>
            <a:ext cx="2752344"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5088" y="1417320"/>
            <a:ext cx="2752344"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81912"/>
            <a:ext cx="2386584" cy="4526280"/>
          </a:xfrm>
          <a:prstGeom prst="rect">
            <a:avLst/>
          </a:prstGeom>
          <a:noFill/>
        </p:spPr>
        <p:txBody>
          <a:bodyPr wrap="square" lIns="0" tIns="0" rIns="0" bIns="0">
            <a:spAutoFit/>
          </a:bodyPr>
          <a:lstStyle/>
          <a:p>
            <a:pPr>
              <a:defRPr sz="1000" b="1">
                <a:solidFill>
                  <a:srgbClr val="14532D"/>
                </a:solidFill>
                <a:latin typeface="Segoe UI"/>
              </a:defRPr>
            </a:pPr>
            <a:r>
              <a:t>COLLABORATION TOPOLOGY</a:t>
            </a:r>
          </a:p>
          <a:p>
            <a:pPr>
              <a:spcBef>
                <a:spcPts val="800"/>
              </a:spcBef>
              <a:defRPr sz="950" b="1">
                <a:solidFill>
                  <a:srgbClr val="16A34A"/>
                </a:solidFill>
                <a:latin typeface="Segoe UI"/>
              </a:defRPr>
            </a:pPr>
            <a:r>
              <a:t>Object Collaboration Topology</a:t>
            </a:r>
          </a:p>
          <a:p>
            <a:pPr>
              <a:spcBef>
                <a:spcPts val="300"/>
              </a:spcBef>
              <a:defRPr sz="850">
                <a:solidFill>
                  <a:srgbClr val="1F2937"/>
                </a:solidFill>
                <a:latin typeface="Segoe UI"/>
              </a:defRPr>
            </a:pPr>
            <a:r>
              <a:t>• Focuses on structural associations between objects rather than a timeline axis.</a:t>
            </a:r>
          </a:p>
          <a:p>
            <a:pPr>
              <a:spcBef>
                <a:spcPts val="300"/>
              </a:spcBef>
              <a:defRPr sz="850">
                <a:solidFill>
                  <a:srgbClr val="1F2937"/>
                </a:solidFill>
                <a:latin typeface="Segoe UI"/>
              </a:defRPr>
            </a:pPr>
            <a:r>
              <a:t>• Demonstrates direct collaboration between UI, Service, DAO, and Database instances.</a:t>
            </a:r>
          </a:p>
          <a:p>
            <a:pPr>
              <a:spcBef>
                <a:spcPts val="800"/>
              </a:spcBef>
              <a:defRPr sz="950" b="1">
                <a:solidFill>
                  <a:srgbClr val="16A34A"/>
                </a:solidFill>
                <a:latin typeface="Segoe UI"/>
              </a:defRPr>
            </a:pPr>
            <a:r>
              <a:t>Numbered Message Trace</a:t>
            </a:r>
          </a:p>
          <a:p>
            <a:pPr>
              <a:spcBef>
                <a:spcPts val="300"/>
              </a:spcBef>
              <a:defRPr sz="850">
                <a:solidFill>
                  <a:srgbClr val="1F2937"/>
                </a:solidFill>
                <a:latin typeface="Segoe UI"/>
              </a:defRPr>
            </a:pPr>
            <a:r>
              <a:t>• 1: checkout(cart) — Customer triggers UI.</a:t>
            </a:r>
          </a:p>
          <a:p>
            <a:pPr>
              <a:spcBef>
                <a:spcPts val="300"/>
              </a:spcBef>
              <a:defRPr sz="850">
                <a:solidFill>
                  <a:srgbClr val="1F2937"/>
                </a:solidFill>
                <a:latin typeface="Segoe UI"/>
              </a:defRPr>
            </a:pPr>
            <a:r>
              <a:t>• 1.1: processOrder() — UI invokes OrderService.</a:t>
            </a:r>
          </a:p>
          <a:p>
            <a:pPr>
              <a:spcBef>
                <a:spcPts val="300"/>
              </a:spcBef>
              <a:defRPr sz="850">
                <a:solidFill>
                  <a:srgbClr val="1F2937"/>
                </a:solidFill>
                <a:latin typeface="Segoe UI"/>
              </a:defRPr>
            </a:pPr>
            <a:r>
              <a:t>• 1.1.1: insertOrder() — Service calls OrderDAO.</a:t>
            </a:r>
          </a:p>
          <a:p>
            <a:pPr>
              <a:spcBef>
                <a:spcPts val="300"/>
              </a:spcBef>
              <a:defRPr sz="850">
                <a:solidFill>
                  <a:srgbClr val="1F2937"/>
                </a:solidFill>
                <a:latin typeface="Segoe UI"/>
              </a:defRPr>
            </a:pPr>
            <a:r>
              <a:t>• 1.1.1.1: getConnection() — DAO gets connection.</a:t>
            </a:r>
          </a:p>
          <a:p>
            <a:pPr>
              <a:spcBef>
                <a:spcPts val="300"/>
              </a:spcBef>
              <a:defRPr sz="850">
                <a:solidFill>
                  <a:srgbClr val="1F2937"/>
                </a:solidFill>
                <a:latin typeface="Segoe UI"/>
              </a:defRPr>
            </a:pPr>
            <a:r>
              <a:t>• 1.1.1.2: setAutoCommit(false) — Starts transaction.</a:t>
            </a:r>
          </a:p>
          <a:p>
            <a:pPr>
              <a:spcBef>
                <a:spcPts val="300"/>
              </a:spcBef>
              <a:defRPr sz="850">
                <a:solidFill>
                  <a:srgbClr val="1F2937"/>
                </a:solidFill>
                <a:latin typeface="Segoe UI"/>
              </a:defRPr>
            </a:pPr>
            <a:r>
              <a:t>• 1.1.1.3: updateStock() &amp; 1.1.1.4: commit() — Executes atomic updates and commits.</a:t>
            </a:r>
          </a:p>
        </p:txBody>
      </p:sp>
      <p:sp>
        <p:nvSpPr>
          <p:cNvPr id="10" name="Rectangle 9"/>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12" name="TextBox 11"/>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7 of 12</a:t>
            </a:r>
          </a:p>
        </p:txBody>
      </p:sp>
      <p:pic>
        <p:nvPicPr>
          <p:cNvPr id="14" name="Picture 13">
            <a:extLst>
              <a:ext uri="{FF2B5EF4-FFF2-40B4-BE49-F238E27FC236}">
                <a16:creationId xmlns:a16="http://schemas.microsoft.com/office/drawing/2014/main" id="{3661371B-2795-19C3-6370-CADA51201BBE}"/>
              </a:ext>
            </a:extLst>
          </p:cNvPr>
          <p:cNvPicPr>
            <a:picLocks noChangeAspect="1"/>
          </p:cNvPicPr>
          <p:nvPr/>
        </p:nvPicPr>
        <p:blipFill>
          <a:blip r:embed="rId2"/>
          <a:stretch>
            <a:fillRect/>
          </a:stretch>
        </p:blipFill>
        <p:spPr>
          <a:xfrm>
            <a:off x="1077810" y="1581912"/>
            <a:ext cx="7256168" cy="44757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UML DYNAMIC MODELING · ORDER LIFECYCLE</a:t>
            </a:r>
          </a:p>
        </p:txBody>
      </p:sp>
      <p:sp>
        <p:nvSpPr>
          <p:cNvPr id="3" name="TextBox 2"/>
          <p:cNvSpPr txBox="1"/>
          <p:nvPr/>
        </p:nvSpPr>
        <p:spPr>
          <a:xfrm>
            <a:off x="731520" y="603504"/>
            <a:ext cx="3720407" cy="323165"/>
          </a:xfrm>
          <a:prstGeom prst="rect">
            <a:avLst/>
          </a:prstGeom>
          <a:noFill/>
        </p:spPr>
        <p:txBody>
          <a:bodyPr wrap="square" lIns="0" tIns="0" rIns="0" bIns="0">
            <a:spAutoFit/>
          </a:bodyPr>
          <a:lstStyle/>
          <a:p>
            <a:pPr>
              <a:defRPr sz="2100" b="1">
                <a:solidFill>
                  <a:srgbClr val="14532D"/>
                </a:solidFill>
                <a:latin typeface="Segoe UI"/>
              </a:defRPr>
            </a:pPr>
            <a:r>
              <a:t>State Chart Diagram</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Formal state machine modeling discrete order lifecycle transitions, triggers, and guard conditions.</a:t>
            </a:r>
          </a:p>
        </p:txBody>
      </p:sp>
      <p:sp>
        <p:nvSpPr>
          <p:cNvPr id="5" name="Rounded Rectangle 4"/>
          <p:cNvSpPr/>
          <p:nvPr/>
        </p:nvSpPr>
        <p:spPr>
          <a:xfrm>
            <a:off x="731520" y="1417320"/>
            <a:ext cx="7818120"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705088" y="1417320"/>
            <a:ext cx="2752344"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5088" y="1417320"/>
            <a:ext cx="2752344"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81912"/>
            <a:ext cx="2386584" cy="4526280"/>
          </a:xfrm>
          <a:prstGeom prst="rect">
            <a:avLst/>
          </a:prstGeom>
          <a:noFill/>
        </p:spPr>
        <p:txBody>
          <a:bodyPr wrap="square" lIns="0" tIns="0" rIns="0" bIns="0">
            <a:spAutoFit/>
          </a:bodyPr>
          <a:lstStyle/>
          <a:p>
            <a:pPr>
              <a:defRPr sz="1000" b="1">
                <a:solidFill>
                  <a:srgbClr val="14532D"/>
                </a:solidFill>
                <a:latin typeface="Segoe UI"/>
              </a:defRPr>
            </a:pPr>
            <a:r>
              <a:t>ORDER LIFECYCLE STATES</a:t>
            </a:r>
          </a:p>
          <a:p>
            <a:pPr>
              <a:spcBef>
                <a:spcPts val="800"/>
              </a:spcBef>
              <a:defRPr sz="950" b="1">
                <a:solidFill>
                  <a:srgbClr val="16A34A"/>
                </a:solidFill>
                <a:latin typeface="Segoe UI"/>
              </a:defRPr>
            </a:pPr>
            <a:r>
              <a:t>Order State Progression</a:t>
            </a:r>
          </a:p>
          <a:p>
            <a:pPr>
              <a:spcBef>
                <a:spcPts val="300"/>
              </a:spcBef>
              <a:defRPr sz="850">
                <a:solidFill>
                  <a:srgbClr val="1F2937"/>
                </a:solidFill>
                <a:latin typeface="Segoe UI"/>
              </a:defRPr>
            </a:pPr>
            <a:r>
              <a:t>• PENDING: Initial state upon checkout; order header recorded and harvest stock reserved.</a:t>
            </a:r>
          </a:p>
          <a:p>
            <a:pPr>
              <a:spcBef>
                <a:spcPts val="300"/>
              </a:spcBef>
              <a:defRPr sz="850">
                <a:solidFill>
                  <a:srgbClr val="1F2937"/>
                </a:solidFill>
                <a:latin typeface="Segoe UI"/>
              </a:defRPr>
            </a:pPr>
            <a:r>
              <a:t>• CONFIRMED: Farmer reviews itemized order and confirms harvest readiness [farmerApproved].</a:t>
            </a:r>
          </a:p>
          <a:p>
            <a:pPr>
              <a:spcBef>
                <a:spcPts val="300"/>
              </a:spcBef>
              <a:defRPr sz="850">
                <a:solidFill>
                  <a:srgbClr val="1F2937"/>
                </a:solidFill>
                <a:latin typeface="Segoe UI"/>
              </a:defRPr>
            </a:pPr>
            <a:r>
              <a:t>• COMPLETED: Produce delivered; credited to farmer revenue ledger (Terminal Final State).</a:t>
            </a:r>
          </a:p>
          <a:p>
            <a:pPr>
              <a:spcBef>
                <a:spcPts val="800"/>
              </a:spcBef>
              <a:defRPr sz="950" b="1">
                <a:solidFill>
                  <a:srgbClr val="16A34A"/>
                </a:solidFill>
                <a:latin typeface="Segoe UI"/>
              </a:defRPr>
            </a:pPr>
            <a:r>
              <a:t>Alternate &amp; Cancellation Paths</a:t>
            </a:r>
          </a:p>
          <a:p>
            <a:pPr>
              <a:spcBef>
                <a:spcPts val="300"/>
              </a:spcBef>
              <a:defRPr sz="850">
                <a:solidFill>
                  <a:srgbClr val="1F2937"/>
                </a:solidFill>
                <a:latin typeface="Segoe UI"/>
              </a:defRPr>
            </a:pPr>
            <a:r>
              <a:t>• CANCELLED: Order rejected by farmer (e.g., [damagedProduce]) or aborted due to [insufficientStock].</a:t>
            </a:r>
          </a:p>
          <a:p>
            <a:pPr>
              <a:spcBef>
                <a:spcPts val="300"/>
              </a:spcBef>
              <a:defRPr sz="850">
                <a:solidFill>
                  <a:srgbClr val="1F2937"/>
                </a:solidFill>
                <a:latin typeface="Segoe UI"/>
              </a:defRPr>
            </a:pPr>
            <a:r>
              <a:t>• Rollback Action: Triggers automatic database rollbackCropStock() returning produce to active inventory.</a:t>
            </a:r>
          </a:p>
          <a:p>
            <a:pPr>
              <a:spcBef>
                <a:spcPts val="300"/>
              </a:spcBef>
              <a:defRPr sz="850">
                <a:solidFill>
                  <a:srgbClr val="1F2937"/>
                </a:solidFill>
                <a:latin typeface="Segoe UI"/>
              </a:defRPr>
            </a:pPr>
            <a:r>
              <a:t>• Guards: Strict sequential transitions prevent invalid state bypass.</a:t>
            </a:r>
          </a:p>
        </p:txBody>
      </p:sp>
      <p:sp>
        <p:nvSpPr>
          <p:cNvPr id="10" name="Rectangle 9"/>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12" name="TextBox 11"/>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8 of 12</a:t>
            </a:r>
          </a:p>
        </p:txBody>
      </p:sp>
      <p:pic>
        <p:nvPicPr>
          <p:cNvPr id="14" name="Picture 13">
            <a:extLst>
              <a:ext uri="{FF2B5EF4-FFF2-40B4-BE49-F238E27FC236}">
                <a16:creationId xmlns:a16="http://schemas.microsoft.com/office/drawing/2014/main" id="{CFA8848D-89FD-9438-C28D-CA7153D4A1C0}"/>
              </a:ext>
            </a:extLst>
          </p:cNvPr>
          <p:cNvPicPr>
            <a:picLocks noChangeAspect="1"/>
          </p:cNvPicPr>
          <p:nvPr/>
        </p:nvPicPr>
        <p:blipFill>
          <a:blip r:embed="rId2"/>
          <a:stretch>
            <a:fillRect/>
          </a:stretch>
        </p:blipFill>
        <p:spPr>
          <a:xfrm>
            <a:off x="856192" y="1581912"/>
            <a:ext cx="7666016" cy="42480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UML IMPLEMENTATION MODELING · SOFTWARE ARCHITECTURE</a:t>
            </a:r>
          </a:p>
        </p:txBody>
      </p:sp>
      <p:sp>
        <p:nvSpPr>
          <p:cNvPr id="3" name="TextBox 2"/>
          <p:cNvSpPr txBox="1"/>
          <p:nvPr/>
        </p:nvSpPr>
        <p:spPr>
          <a:xfrm>
            <a:off x="731520" y="603504"/>
            <a:ext cx="10728655" cy="411480"/>
          </a:xfrm>
          <a:prstGeom prst="rect">
            <a:avLst/>
          </a:prstGeom>
          <a:noFill/>
        </p:spPr>
        <p:txBody>
          <a:bodyPr wrap="square" lIns="0" tIns="0" rIns="0" bIns="0">
            <a:spAutoFit/>
          </a:bodyPr>
          <a:lstStyle/>
          <a:p>
            <a:pPr>
              <a:defRPr sz="2100" b="1">
                <a:solidFill>
                  <a:srgbClr val="14532D"/>
                </a:solidFill>
                <a:latin typeface="Segoe UI"/>
              </a:defRPr>
            </a:pPr>
            <a:r>
              <a:t>Component Diagram</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Decomposing YieldGrid into modular software subsystems, executable JAR archives, and dependency interfaces.</a:t>
            </a:r>
          </a:p>
        </p:txBody>
      </p:sp>
      <p:sp>
        <p:nvSpPr>
          <p:cNvPr id="5" name="Rounded Rectangle 4"/>
          <p:cNvSpPr/>
          <p:nvPr/>
        </p:nvSpPr>
        <p:spPr>
          <a:xfrm>
            <a:off x="731520" y="1417320"/>
            <a:ext cx="7818120"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7_Component_Diagram.png"/>
          <p:cNvPicPr>
            <a:picLocks noChangeAspect="1"/>
          </p:cNvPicPr>
          <p:nvPr/>
        </p:nvPicPr>
        <p:blipFill>
          <a:blip r:embed="rId2"/>
          <a:stretch>
            <a:fillRect/>
          </a:stretch>
        </p:blipFill>
        <p:spPr>
          <a:xfrm>
            <a:off x="1217863" y="1527048"/>
            <a:ext cx="6845433" cy="4626864"/>
          </a:xfrm>
          <a:prstGeom prst="rect">
            <a:avLst/>
          </a:prstGeom>
        </p:spPr>
      </p:pic>
      <p:sp>
        <p:nvSpPr>
          <p:cNvPr id="7" name="Rounded Rectangle 6"/>
          <p:cNvSpPr/>
          <p:nvPr/>
        </p:nvSpPr>
        <p:spPr>
          <a:xfrm>
            <a:off x="8705088" y="1417320"/>
            <a:ext cx="2752344"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5088" y="1417320"/>
            <a:ext cx="2752344"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81912"/>
            <a:ext cx="2386584" cy="4526280"/>
          </a:xfrm>
          <a:prstGeom prst="rect">
            <a:avLst/>
          </a:prstGeom>
          <a:noFill/>
        </p:spPr>
        <p:txBody>
          <a:bodyPr wrap="square" lIns="0" tIns="0" rIns="0" bIns="0">
            <a:spAutoFit/>
          </a:bodyPr>
          <a:lstStyle/>
          <a:p>
            <a:pPr>
              <a:defRPr sz="1000" b="1">
                <a:solidFill>
                  <a:srgbClr val="14532D"/>
                </a:solidFill>
                <a:latin typeface="Segoe UI"/>
              </a:defRPr>
            </a:pPr>
            <a:r>
              <a:t>COMPONENT SUBSYSTEMS</a:t>
            </a:r>
          </a:p>
          <a:p>
            <a:pPr>
              <a:spcBef>
                <a:spcPts val="800"/>
              </a:spcBef>
              <a:defRPr sz="950" b="1">
                <a:solidFill>
                  <a:srgbClr val="16A34A"/>
                </a:solidFill>
                <a:latin typeface="Segoe UI"/>
              </a:defRPr>
            </a:pPr>
            <a:r>
              <a:t>Subsystem Components</a:t>
            </a:r>
          </a:p>
          <a:p>
            <a:pPr>
              <a:spcBef>
                <a:spcPts val="300"/>
              </a:spcBef>
              <a:defRPr sz="850">
                <a:solidFill>
                  <a:srgbClr val="1F2937"/>
                </a:solidFill>
                <a:latin typeface="Segoe UI"/>
              </a:defRPr>
            </a:pPr>
            <a:r>
              <a:t>• UI Component (yieldgrid-ui.jar): Swing views, table models, and UITheme.</a:t>
            </a:r>
          </a:p>
          <a:p>
            <a:pPr>
              <a:spcBef>
                <a:spcPts val="300"/>
              </a:spcBef>
              <a:defRPr sz="850">
                <a:solidFill>
                  <a:srgbClr val="1F2937"/>
                </a:solidFill>
                <a:latin typeface="Segoe UI"/>
              </a:defRPr>
            </a:pPr>
            <a:r>
              <a:t>• Service Component (yieldgrid-service.jar): Core business invariants and validation rules.</a:t>
            </a:r>
          </a:p>
          <a:p>
            <a:pPr>
              <a:spcBef>
                <a:spcPts val="300"/>
              </a:spcBef>
              <a:defRPr sz="850">
                <a:solidFill>
                  <a:srgbClr val="1F2937"/>
                </a:solidFill>
                <a:latin typeface="Segoe UI"/>
              </a:defRPr>
            </a:pPr>
            <a:r>
              <a:t>• DAO Component (yieldgrid-dao.jar): Encapsulated CRUD and JDBC transactions.</a:t>
            </a:r>
          </a:p>
          <a:p>
            <a:pPr>
              <a:spcBef>
                <a:spcPts val="300"/>
              </a:spcBef>
              <a:defRPr sz="850">
                <a:solidFill>
                  <a:srgbClr val="1F2937"/>
                </a:solidFill>
                <a:latin typeface="Segoe UI"/>
              </a:defRPr>
            </a:pPr>
            <a:r>
              <a:t>• Security &amp; Utils: PasswordUtil (PBKDF2) and DataExporter (CSV export).</a:t>
            </a:r>
          </a:p>
          <a:p>
            <a:pPr>
              <a:spcBef>
                <a:spcPts val="800"/>
              </a:spcBef>
              <a:defRPr sz="950" b="1">
                <a:solidFill>
                  <a:srgbClr val="16A34A"/>
                </a:solidFill>
                <a:latin typeface="Segoe UI"/>
              </a:defRPr>
            </a:pPr>
            <a:r>
              <a:t>Interfaces &amp; Connectivity</a:t>
            </a:r>
          </a:p>
          <a:p>
            <a:pPr>
              <a:spcBef>
                <a:spcPts val="300"/>
              </a:spcBef>
              <a:defRPr sz="850">
                <a:solidFill>
                  <a:srgbClr val="1F2937"/>
                </a:solidFill>
                <a:latin typeface="Segoe UI"/>
              </a:defRPr>
            </a:pPr>
            <a:r>
              <a:t>• Components communicate via interfaces (IAuthService, ICropDAO, IOrderDAO).</a:t>
            </a:r>
          </a:p>
          <a:p>
            <a:pPr>
              <a:spcBef>
                <a:spcPts val="300"/>
              </a:spcBef>
              <a:defRPr sz="850">
                <a:solidFill>
                  <a:srgbClr val="1F2937"/>
                </a:solidFill>
                <a:latin typeface="Segoe UI"/>
              </a:defRPr>
            </a:pPr>
            <a:r>
              <a:t>• Type-4 JDBC driver connects directly to MySQL via TCP/IP 3306.</a:t>
            </a:r>
          </a:p>
        </p:txBody>
      </p:sp>
      <p:sp>
        <p:nvSpPr>
          <p:cNvPr id="10" name="Rectangle 9"/>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12" name="TextBox 11"/>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9 of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UML DEPLOYMENT MODELING · INFRASTRUCTURE &amp; RUNTIME</a:t>
            </a:r>
          </a:p>
        </p:txBody>
      </p:sp>
      <p:sp>
        <p:nvSpPr>
          <p:cNvPr id="3" name="TextBox 2"/>
          <p:cNvSpPr txBox="1"/>
          <p:nvPr/>
        </p:nvSpPr>
        <p:spPr>
          <a:xfrm>
            <a:off x="731520" y="603504"/>
            <a:ext cx="10728655" cy="411480"/>
          </a:xfrm>
          <a:prstGeom prst="rect">
            <a:avLst/>
          </a:prstGeom>
          <a:noFill/>
        </p:spPr>
        <p:txBody>
          <a:bodyPr wrap="square" lIns="0" tIns="0" rIns="0" bIns="0">
            <a:spAutoFit/>
          </a:bodyPr>
          <a:lstStyle/>
          <a:p>
            <a:pPr>
              <a:defRPr sz="2100" b="1">
                <a:solidFill>
                  <a:srgbClr val="14532D"/>
                </a:solidFill>
                <a:latin typeface="Segoe UI"/>
              </a:defRPr>
            </a:pPr>
            <a:r>
              <a:t>Deployment Diagram</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Hardware nodes, execution environments, network protocols, and database deployment topology.</a:t>
            </a:r>
          </a:p>
        </p:txBody>
      </p:sp>
      <p:sp>
        <p:nvSpPr>
          <p:cNvPr id="5" name="Rounded Rectangle 4"/>
          <p:cNvSpPr/>
          <p:nvPr/>
        </p:nvSpPr>
        <p:spPr>
          <a:xfrm>
            <a:off x="731520" y="1417320"/>
            <a:ext cx="7818120"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8_Deployment_Diagram.png"/>
          <p:cNvPicPr>
            <a:picLocks noChangeAspect="1"/>
          </p:cNvPicPr>
          <p:nvPr/>
        </p:nvPicPr>
        <p:blipFill>
          <a:blip r:embed="rId2"/>
          <a:stretch>
            <a:fillRect/>
          </a:stretch>
        </p:blipFill>
        <p:spPr>
          <a:xfrm>
            <a:off x="854963" y="1527048"/>
            <a:ext cx="7571232" cy="4626864"/>
          </a:xfrm>
          <a:prstGeom prst="rect">
            <a:avLst/>
          </a:prstGeom>
        </p:spPr>
      </p:pic>
      <p:sp>
        <p:nvSpPr>
          <p:cNvPr id="7" name="Rounded Rectangle 6"/>
          <p:cNvSpPr/>
          <p:nvPr/>
        </p:nvSpPr>
        <p:spPr>
          <a:xfrm>
            <a:off x="8705088" y="1417320"/>
            <a:ext cx="2752344" cy="4846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5088" y="1417320"/>
            <a:ext cx="2752344"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81912"/>
            <a:ext cx="2386584" cy="4526280"/>
          </a:xfrm>
          <a:prstGeom prst="rect">
            <a:avLst/>
          </a:prstGeom>
          <a:noFill/>
        </p:spPr>
        <p:txBody>
          <a:bodyPr wrap="square" lIns="0" tIns="0" rIns="0" bIns="0">
            <a:spAutoFit/>
          </a:bodyPr>
          <a:lstStyle/>
          <a:p>
            <a:pPr>
              <a:defRPr sz="1000" b="1">
                <a:solidFill>
                  <a:srgbClr val="14532D"/>
                </a:solidFill>
                <a:latin typeface="Segoe UI"/>
              </a:defRPr>
            </a:pPr>
            <a:r>
              <a:t>DEPLOYMENT TOPOLOGY</a:t>
            </a:r>
          </a:p>
          <a:p>
            <a:pPr>
              <a:spcBef>
                <a:spcPts val="800"/>
              </a:spcBef>
              <a:defRPr sz="950" b="1">
                <a:solidFill>
                  <a:srgbClr val="16A34A"/>
                </a:solidFill>
                <a:latin typeface="Segoe UI"/>
              </a:defRPr>
            </a:pPr>
            <a:r>
              <a:t>Physical Hardware &amp; Nodes</a:t>
            </a:r>
          </a:p>
          <a:p>
            <a:pPr>
              <a:spcBef>
                <a:spcPts val="300"/>
              </a:spcBef>
              <a:defRPr sz="850">
                <a:solidFill>
                  <a:srgbClr val="1F2937"/>
                </a:solidFill>
                <a:latin typeface="Segoe UI"/>
              </a:defRPr>
            </a:pPr>
            <a:r>
              <a:t>• Client Workstation Node: Desktop PC executing YieldGrid.jar inside Java Runtime Environment (JRE 17+ LTS).</a:t>
            </a:r>
          </a:p>
          <a:p>
            <a:pPr>
              <a:spcBef>
                <a:spcPts val="300"/>
              </a:spcBef>
              <a:defRPr sz="850">
                <a:solidFill>
                  <a:srgbClr val="1F2937"/>
                </a:solidFill>
                <a:latin typeface="Segoe UI"/>
              </a:defRPr>
            </a:pPr>
            <a:r>
              <a:t>• Database Server Node: Localhost / LAN machine executing MySQL 8.0+ Community Server.</a:t>
            </a:r>
          </a:p>
          <a:p>
            <a:pPr>
              <a:spcBef>
                <a:spcPts val="800"/>
              </a:spcBef>
              <a:defRPr sz="950" b="1">
                <a:solidFill>
                  <a:srgbClr val="16A34A"/>
                </a:solidFill>
                <a:latin typeface="Segoe UI"/>
              </a:defRPr>
            </a:pPr>
            <a:r>
              <a:t>Network &amp; Protocol</a:t>
            </a:r>
          </a:p>
          <a:p>
            <a:pPr>
              <a:spcBef>
                <a:spcPts val="300"/>
              </a:spcBef>
              <a:defRPr sz="850">
                <a:solidFill>
                  <a:srgbClr val="1F2937"/>
                </a:solidFill>
                <a:latin typeface="Segoe UI"/>
              </a:defRPr>
            </a:pPr>
            <a:r>
              <a:t>• Communication Path: TCP/IP socket connection on standard MySQL port 3306.</a:t>
            </a:r>
          </a:p>
          <a:p>
            <a:pPr>
              <a:spcBef>
                <a:spcPts val="300"/>
              </a:spcBef>
              <a:defRPr sz="850">
                <a:solidFill>
                  <a:srgbClr val="1F2937"/>
                </a:solidFill>
                <a:latin typeface="Segoe UI"/>
              </a:defRPr>
            </a:pPr>
            <a:r>
              <a:t>• JDBC URL: jdbc:mysql://localhost:3306/yieldgrid.</a:t>
            </a:r>
          </a:p>
          <a:p>
            <a:pPr>
              <a:spcBef>
                <a:spcPts val="300"/>
              </a:spcBef>
              <a:defRPr sz="850">
                <a:solidFill>
                  <a:srgbClr val="1F2937"/>
                </a:solidFill>
                <a:latin typeface="Segoe UI"/>
              </a:defRPr>
            </a:pPr>
            <a:r>
              <a:t>• Runtime config loaded securely from local config.properties file.</a:t>
            </a:r>
          </a:p>
        </p:txBody>
      </p:sp>
      <p:sp>
        <p:nvSpPr>
          <p:cNvPr id="10" name="Rectangle 9"/>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12" name="TextBox 11"/>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10 of 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SYSTEM IMPLEMENTATION &amp; PROTOTYPE DEMONSTRATION</a:t>
            </a:r>
          </a:p>
        </p:txBody>
      </p:sp>
      <p:sp>
        <p:nvSpPr>
          <p:cNvPr id="3" name="TextBox 2"/>
          <p:cNvSpPr txBox="1"/>
          <p:nvPr/>
        </p:nvSpPr>
        <p:spPr>
          <a:xfrm>
            <a:off x="731520" y="603504"/>
            <a:ext cx="10728655" cy="411480"/>
          </a:xfrm>
          <a:prstGeom prst="rect">
            <a:avLst/>
          </a:prstGeom>
          <a:noFill/>
        </p:spPr>
        <p:txBody>
          <a:bodyPr wrap="square" lIns="0" tIns="0" rIns="0" bIns="0">
            <a:spAutoFit/>
          </a:bodyPr>
          <a:lstStyle/>
          <a:p>
            <a:pPr>
              <a:defRPr sz="2100" b="1">
                <a:solidFill>
                  <a:srgbClr val="14532D"/>
                </a:solidFill>
                <a:latin typeface="Segoe UI"/>
              </a:defRPr>
            </a:pPr>
            <a:r>
              <a:t>Results and Prototype</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Visual evidence of operational Java Swing interface, demonstrating authentication, inventory CRUD, discovery, and order tracking.</a:t>
            </a:r>
          </a:p>
        </p:txBody>
      </p:sp>
      <p:sp>
        <p:nvSpPr>
          <p:cNvPr id="5" name="Rounded Rectangle 4"/>
          <p:cNvSpPr/>
          <p:nvPr/>
        </p:nvSpPr>
        <p:spPr>
          <a:xfrm>
            <a:off x="731520" y="1417320"/>
            <a:ext cx="5230368" cy="1993392"/>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proto_01_login_auth.png"/>
          <p:cNvPicPr>
            <a:picLocks noChangeAspect="1"/>
          </p:cNvPicPr>
          <p:nvPr/>
        </p:nvPicPr>
        <p:blipFill>
          <a:blip r:embed="rId2"/>
          <a:stretch>
            <a:fillRect/>
          </a:stretch>
        </p:blipFill>
        <p:spPr>
          <a:xfrm>
            <a:off x="1168609" y="1490472"/>
            <a:ext cx="1741005" cy="1847088"/>
          </a:xfrm>
          <a:prstGeom prst="rect">
            <a:avLst/>
          </a:prstGeom>
        </p:spPr>
      </p:pic>
      <p:sp>
        <p:nvSpPr>
          <p:cNvPr id="7" name="TextBox 6"/>
          <p:cNvSpPr txBox="1"/>
          <p:nvPr/>
        </p:nvSpPr>
        <p:spPr>
          <a:xfrm>
            <a:off x="3364992" y="1527048"/>
            <a:ext cx="2505456" cy="1773936"/>
          </a:xfrm>
          <a:prstGeom prst="rect">
            <a:avLst/>
          </a:prstGeom>
          <a:noFill/>
        </p:spPr>
        <p:txBody>
          <a:bodyPr wrap="square" lIns="0" tIns="0" rIns="0" bIns="0">
            <a:spAutoFit/>
          </a:bodyPr>
          <a:lstStyle/>
          <a:p>
            <a:pPr>
              <a:defRPr sz="950" b="1">
                <a:solidFill>
                  <a:srgbClr val="14532D"/>
                </a:solidFill>
                <a:latin typeface="Segoe UI"/>
              </a:defRPr>
            </a:pPr>
            <a:r>
              <a:t>Figure 11.1: Authentication &amp; Role Selection (LoginFrame)</a:t>
            </a:r>
          </a:p>
          <a:p>
            <a:pPr>
              <a:spcBef>
                <a:spcPts val="400"/>
              </a:spcBef>
              <a:defRPr sz="850">
                <a:solidFill>
                  <a:srgbClr val="6B7280"/>
                </a:solidFill>
                <a:latin typeface="Segoe UI"/>
              </a:defRPr>
            </a:pPr>
            <a:r>
              <a:t>Role-based login modal (Farmer, Customer, Admin) enforcing PBKDF2 password verification and session initialization.</a:t>
            </a:r>
          </a:p>
        </p:txBody>
      </p:sp>
      <p:sp>
        <p:nvSpPr>
          <p:cNvPr id="8" name="Rounded Rectangle 7"/>
          <p:cNvSpPr/>
          <p:nvPr/>
        </p:nvSpPr>
        <p:spPr>
          <a:xfrm>
            <a:off x="6227064" y="1417320"/>
            <a:ext cx="5230368" cy="1993392"/>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roto_02_farmer_inventory.png"/>
          <p:cNvPicPr>
            <a:picLocks noChangeAspect="1"/>
          </p:cNvPicPr>
          <p:nvPr/>
        </p:nvPicPr>
        <p:blipFill>
          <a:blip r:embed="rId3"/>
          <a:stretch>
            <a:fillRect/>
          </a:stretch>
        </p:blipFill>
        <p:spPr>
          <a:xfrm>
            <a:off x="6300216" y="1549805"/>
            <a:ext cx="2468880" cy="1728420"/>
          </a:xfrm>
          <a:prstGeom prst="rect">
            <a:avLst/>
          </a:prstGeom>
        </p:spPr>
      </p:pic>
      <p:sp>
        <p:nvSpPr>
          <p:cNvPr id="10" name="TextBox 9"/>
          <p:cNvSpPr txBox="1"/>
          <p:nvPr/>
        </p:nvSpPr>
        <p:spPr>
          <a:xfrm>
            <a:off x="8860536" y="1527048"/>
            <a:ext cx="2505456" cy="1773936"/>
          </a:xfrm>
          <a:prstGeom prst="rect">
            <a:avLst/>
          </a:prstGeom>
          <a:noFill/>
        </p:spPr>
        <p:txBody>
          <a:bodyPr wrap="square" lIns="0" tIns="0" rIns="0" bIns="0">
            <a:spAutoFit/>
          </a:bodyPr>
          <a:lstStyle/>
          <a:p>
            <a:pPr>
              <a:defRPr sz="950" b="1">
                <a:solidFill>
                  <a:srgbClr val="14532D"/>
                </a:solidFill>
                <a:latin typeface="Segoe UI"/>
              </a:defRPr>
            </a:pPr>
            <a:r>
              <a:t>Figure 11.2: Farmer Crop Inventory Management (FarmerDashboard)</a:t>
            </a:r>
          </a:p>
          <a:p>
            <a:pPr>
              <a:spcBef>
                <a:spcPts val="400"/>
              </a:spcBef>
              <a:defRPr sz="850">
                <a:solidFill>
                  <a:srgbClr val="6B7280"/>
                </a:solidFill>
                <a:latin typeface="Segoe UI"/>
              </a:defRPr>
            </a:pPr>
            <a:r>
              <a:t>Full CRUD crop inventory management: add seasonal crops, edit available stock, modify unit pricing, and toggle listing availability.</a:t>
            </a:r>
          </a:p>
        </p:txBody>
      </p:sp>
      <p:sp>
        <p:nvSpPr>
          <p:cNvPr id="11" name="Rounded Rectangle 10"/>
          <p:cNvSpPr/>
          <p:nvPr/>
        </p:nvSpPr>
        <p:spPr>
          <a:xfrm>
            <a:off x="731520" y="3557016"/>
            <a:ext cx="5230368" cy="1993392"/>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proto_03_customer_marketplace.png"/>
          <p:cNvPicPr>
            <a:picLocks noChangeAspect="1"/>
          </p:cNvPicPr>
          <p:nvPr/>
        </p:nvPicPr>
        <p:blipFill>
          <a:blip r:embed="rId4"/>
          <a:stretch>
            <a:fillRect/>
          </a:stretch>
        </p:blipFill>
        <p:spPr>
          <a:xfrm>
            <a:off x="804672" y="3698706"/>
            <a:ext cx="2468880" cy="1710011"/>
          </a:xfrm>
          <a:prstGeom prst="rect">
            <a:avLst/>
          </a:prstGeom>
        </p:spPr>
      </p:pic>
      <p:sp>
        <p:nvSpPr>
          <p:cNvPr id="13" name="TextBox 12"/>
          <p:cNvSpPr txBox="1"/>
          <p:nvPr/>
        </p:nvSpPr>
        <p:spPr>
          <a:xfrm>
            <a:off x="3364992" y="3666744"/>
            <a:ext cx="2505456" cy="1773936"/>
          </a:xfrm>
          <a:prstGeom prst="rect">
            <a:avLst/>
          </a:prstGeom>
          <a:noFill/>
        </p:spPr>
        <p:txBody>
          <a:bodyPr wrap="square" lIns="0" tIns="0" rIns="0" bIns="0">
            <a:spAutoFit/>
          </a:bodyPr>
          <a:lstStyle/>
          <a:p>
            <a:pPr>
              <a:defRPr sz="950" b="1">
                <a:solidFill>
                  <a:srgbClr val="14532D"/>
                </a:solidFill>
                <a:latin typeface="Segoe UI"/>
              </a:defRPr>
            </a:pPr>
            <a:r>
              <a:t>Figure 11.3: Customer Marketplace Discovery (CustomerDashboard)</a:t>
            </a:r>
          </a:p>
          <a:p>
            <a:pPr>
              <a:spcBef>
                <a:spcPts val="400"/>
              </a:spcBef>
              <a:defRPr sz="850">
                <a:solidFill>
                  <a:srgbClr val="6B7280"/>
                </a:solidFill>
                <a:latin typeface="Segoe UI"/>
              </a:defRPr>
            </a:pPr>
            <a:r>
              <a:t>Direct-to-consumer catalog search: real-time produce filtering, stock visibility, unit price display, and shopping cart addition.</a:t>
            </a:r>
          </a:p>
        </p:txBody>
      </p:sp>
      <p:sp>
        <p:nvSpPr>
          <p:cNvPr id="14" name="Rounded Rectangle 13"/>
          <p:cNvSpPr/>
          <p:nvPr/>
        </p:nvSpPr>
        <p:spPr>
          <a:xfrm>
            <a:off x="6227064" y="3557016"/>
            <a:ext cx="5230368" cy="1993392"/>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proto_04_order_tracking.png"/>
          <p:cNvPicPr>
            <a:picLocks noChangeAspect="1"/>
          </p:cNvPicPr>
          <p:nvPr/>
        </p:nvPicPr>
        <p:blipFill>
          <a:blip r:embed="rId5"/>
          <a:stretch>
            <a:fillRect/>
          </a:stretch>
        </p:blipFill>
        <p:spPr>
          <a:xfrm>
            <a:off x="6300216" y="3697683"/>
            <a:ext cx="2468880" cy="1712056"/>
          </a:xfrm>
          <a:prstGeom prst="rect">
            <a:avLst/>
          </a:prstGeom>
        </p:spPr>
      </p:pic>
      <p:sp>
        <p:nvSpPr>
          <p:cNvPr id="16" name="TextBox 15"/>
          <p:cNvSpPr txBox="1"/>
          <p:nvPr/>
        </p:nvSpPr>
        <p:spPr>
          <a:xfrm>
            <a:off x="8860536" y="3666744"/>
            <a:ext cx="2505456" cy="1773936"/>
          </a:xfrm>
          <a:prstGeom prst="rect">
            <a:avLst/>
          </a:prstGeom>
          <a:noFill/>
        </p:spPr>
        <p:txBody>
          <a:bodyPr wrap="square" lIns="0" tIns="0" rIns="0" bIns="0">
            <a:spAutoFit/>
          </a:bodyPr>
          <a:lstStyle/>
          <a:p>
            <a:pPr>
              <a:defRPr sz="950" b="1">
                <a:solidFill>
                  <a:srgbClr val="14532D"/>
                </a:solidFill>
                <a:latin typeface="Segoe UI"/>
              </a:defRPr>
            </a:pPr>
            <a:r>
              <a:t>Figure 11.4: Customer Order History &amp; Pipeline (OrdersPanel)</a:t>
            </a:r>
          </a:p>
          <a:p>
            <a:pPr>
              <a:spcBef>
                <a:spcPts val="400"/>
              </a:spcBef>
              <a:defRPr sz="850">
                <a:solidFill>
                  <a:srgbClr val="6B7280"/>
                </a:solidFill>
                <a:latin typeface="Segoe UI"/>
              </a:defRPr>
            </a:pPr>
            <a:r>
              <a:t>End-to-end order status tracking: inspect past orders, view itemized breakdown dialog, and monitor live fulfillment status (PENDING → DELIVERED).</a:t>
            </a:r>
          </a:p>
        </p:txBody>
      </p:sp>
      <p:sp>
        <p:nvSpPr>
          <p:cNvPr id="17" name="Rounded Rectangle 16"/>
          <p:cNvSpPr/>
          <p:nvPr/>
        </p:nvSpPr>
        <p:spPr>
          <a:xfrm>
            <a:off x="731520" y="5623560"/>
            <a:ext cx="10728655" cy="658368"/>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715000"/>
            <a:ext cx="10362895" cy="475488"/>
          </a:xfrm>
          <a:prstGeom prst="rect">
            <a:avLst/>
          </a:prstGeom>
          <a:noFill/>
        </p:spPr>
        <p:txBody>
          <a:bodyPr wrap="square" lIns="0" tIns="0" rIns="0" bIns="0">
            <a:spAutoFit/>
          </a:bodyPr>
          <a:lstStyle/>
          <a:p>
            <a:pPr>
              <a:defRPr sz="950" b="1">
                <a:solidFill>
                  <a:srgbClr val="14532D"/>
                </a:solidFill>
                <a:latin typeface="Segoe UI"/>
              </a:defRPr>
            </a:pPr>
            <a:r>
              <a:t>PROTOTYPE IMPLEMENTATION &amp; TEST VERIFICATION SUMMARY</a:t>
            </a:r>
          </a:p>
          <a:p>
            <a:pPr>
              <a:spcBef>
                <a:spcPts val="200"/>
              </a:spcBef>
              <a:defRPr sz="850">
                <a:solidFill>
                  <a:srgbClr val="1F2937"/>
                </a:solidFill>
                <a:latin typeface="Segoe UI"/>
              </a:defRPr>
            </a:pPr>
            <a:r>
              <a:t>Fully functional desktop application engineered in Java Swing connected to MySQL 8.0 via Type-4 JDBC. Successfully demonstrates end-to-end transactional workflows: produce listing, catalog search, atomic multi-item cart checkout, and live order tracking. Verified with 53/53 passing automated test cases.</a:t>
            </a:r>
          </a:p>
        </p:txBody>
      </p:sp>
      <p:sp>
        <p:nvSpPr>
          <p:cNvPr id="19" name="Rectangle 18"/>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21" name="TextBox 20"/>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11 of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237744"/>
          </a:xfrm>
          <a:prstGeom prst="rect">
            <a:avLst/>
          </a:prstGeom>
          <a:noFill/>
        </p:spPr>
        <p:txBody>
          <a:bodyPr wrap="square" lIns="0" tIns="0" rIns="0" bIns="0">
            <a:spAutoFit/>
          </a:bodyPr>
          <a:lstStyle/>
          <a:p>
            <a:pPr>
              <a:defRPr sz="900" b="1">
                <a:solidFill>
                  <a:srgbClr val="16A34A"/>
                </a:solidFill>
                <a:latin typeface="Segoe UI"/>
              </a:defRPr>
            </a:pPr>
            <a:r>
              <a:t>PROJECT CONCLUSION &amp; ACADEMIC OUTCOMES</a:t>
            </a:r>
          </a:p>
        </p:txBody>
      </p:sp>
      <p:sp>
        <p:nvSpPr>
          <p:cNvPr id="3" name="TextBox 2"/>
          <p:cNvSpPr txBox="1"/>
          <p:nvPr/>
        </p:nvSpPr>
        <p:spPr>
          <a:xfrm>
            <a:off x="731520" y="603504"/>
            <a:ext cx="10728655" cy="411480"/>
          </a:xfrm>
          <a:prstGeom prst="rect">
            <a:avLst/>
          </a:prstGeom>
          <a:noFill/>
        </p:spPr>
        <p:txBody>
          <a:bodyPr wrap="square" lIns="0" tIns="0" rIns="0" bIns="0">
            <a:spAutoFit/>
          </a:bodyPr>
          <a:lstStyle/>
          <a:p>
            <a:pPr>
              <a:defRPr sz="2100" b="1">
                <a:solidFill>
                  <a:srgbClr val="14532D"/>
                </a:solidFill>
                <a:latin typeface="Segoe UI"/>
              </a:defRPr>
            </a:pPr>
            <a:r>
              <a:t>Conclusion &amp; Future Scope</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050">
                <a:solidFill>
                  <a:srgbClr val="6B7280"/>
                </a:solidFill>
                <a:latin typeface="Segoe UI"/>
              </a:defRPr>
            </a:pPr>
            <a:r>
              <a:t>Reflecting on core engineering achievements, academic learning, and practical roadmap for YieldGrid.</a:t>
            </a:r>
          </a:p>
        </p:txBody>
      </p:sp>
      <p:sp>
        <p:nvSpPr>
          <p:cNvPr id="5" name="Rounded Rectangle 4"/>
          <p:cNvSpPr/>
          <p:nvPr/>
        </p:nvSpPr>
        <p:spPr>
          <a:xfrm>
            <a:off x="731520" y="1417320"/>
            <a:ext cx="3328416" cy="32461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17320"/>
            <a:ext cx="3328416" cy="54864"/>
          </a:xfrm>
          <a:prstGeom prst="rect">
            <a:avLst/>
          </a:prstGeom>
          <a:solidFill>
            <a:srgbClr val="145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81912"/>
            <a:ext cx="2962656" cy="2926080"/>
          </a:xfrm>
          <a:prstGeom prst="rect">
            <a:avLst/>
          </a:prstGeom>
          <a:noFill/>
        </p:spPr>
        <p:txBody>
          <a:bodyPr wrap="square" lIns="0" tIns="0" rIns="0" bIns="0">
            <a:spAutoFit/>
          </a:bodyPr>
          <a:lstStyle/>
          <a:p>
            <a:pPr>
              <a:defRPr sz="1150" b="1">
                <a:solidFill>
                  <a:srgbClr val="14532D"/>
                </a:solidFill>
                <a:latin typeface="Segoe UI"/>
              </a:defRPr>
            </a:pPr>
            <a:r>
              <a:t>Core Problem Solved</a:t>
            </a:r>
          </a:p>
          <a:p>
            <a:pPr>
              <a:spcBef>
                <a:spcPts val="600"/>
              </a:spcBef>
              <a:defRPr sz="880">
                <a:solidFill>
                  <a:srgbClr val="1F2937"/>
                </a:solidFill>
                <a:latin typeface="Segoe UI"/>
              </a:defRPr>
            </a:pPr>
            <a:r>
              <a:t>• Eliminated Middleman Friction: Built an operational direct D2C platform connecting farmers directly to retail customers.</a:t>
            </a:r>
          </a:p>
          <a:p>
            <a:pPr>
              <a:spcBef>
                <a:spcPts val="600"/>
              </a:spcBef>
              <a:defRPr sz="880">
                <a:solidFill>
                  <a:srgbClr val="1F2937"/>
                </a:solidFill>
                <a:latin typeface="Segoe UI"/>
              </a:defRPr>
            </a:pPr>
            <a:r>
              <a:t>• Farmer Pricing Autonomy: Agricultural producers maintain full authority over unit prices, harvest stock, and revenue tracking.</a:t>
            </a:r>
          </a:p>
          <a:p>
            <a:pPr>
              <a:spcBef>
                <a:spcPts val="600"/>
              </a:spcBef>
              <a:defRPr sz="880">
                <a:solidFill>
                  <a:srgbClr val="1F2937"/>
                </a:solidFill>
                <a:latin typeface="Segoe UI"/>
              </a:defRPr>
            </a:pPr>
            <a:r>
              <a:t>• Consumer Transparency: Retail buyers access fresh local produce with transparent pricing and verified stock counts.</a:t>
            </a:r>
          </a:p>
          <a:p>
            <a:pPr>
              <a:spcBef>
                <a:spcPts val="600"/>
              </a:spcBef>
              <a:defRPr sz="880">
                <a:solidFill>
                  <a:srgbClr val="1F2937"/>
                </a:solidFill>
                <a:latin typeface="Segoe UI"/>
              </a:defRPr>
            </a:pPr>
            <a:r>
              <a:t>• Transactional Integrity: Enforced ACID-consistent checkout with zero data anomalies.</a:t>
            </a:r>
          </a:p>
        </p:txBody>
      </p:sp>
      <p:sp>
        <p:nvSpPr>
          <p:cNvPr id="8" name="Rounded Rectangle 7"/>
          <p:cNvSpPr/>
          <p:nvPr/>
        </p:nvSpPr>
        <p:spPr>
          <a:xfrm>
            <a:off x="4425696" y="1417320"/>
            <a:ext cx="3328416" cy="32461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25696" y="1417320"/>
            <a:ext cx="3328416"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08576" y="1581912"/>
            <a:ext cx="2962656" cy="2926080"/>
          </a:xfrm>
          <a:prstGeom prst="rect">
            <a:avLst/>
          </a:prstGeom>
          <a:noFill/>
        </p:spPr>
        <p:txBody>
          <a:bodyPr wrap="square" lIns="0" tIns="0" rIns="0" bIns="0">
            <a:spAutoFit/>
          </a:bodyPr>
          <a:lstStyle/>
          <a:p>
            <a:pPr>
              <a:defRPr sz="1150" b="1">
                <a:solidFill>
                  <a:srgbClr val="14532D"/>
                </a:solidFill>
                <a:latin typeface="Segoe UI"/>
              </a:defRPr>
            </a:pPr>
            <a:r>
              <a:t>Java OOP Mastery Demonstrated</a:t>
            </a:r>
          </a:p>
          <a:p>
            <a:pPr>
              <a:spcBef>
                <a:spcPts val="600"/>
              </a:spcBef>
              <a:defRPr sz="880">
                <a:solidFill>
                  <a:srgbClr val="1F2937"/>
                </a:solidFill>
                <a:latin typeface="Segoe UI"/>
              </a:defRPr>
            </a:pPr>
            <a:r>
              <a:t>• Complete Course Coverage: Implemented all core concepts across Units I to V (Encapsulation, Inheritance, Polymorphism, Interfaces).</a:t>
            </a:r>
          </a:p>
          <a:p>
            <a:pPr>
              <a:spcBef>
                <a:spcPts val="600"/>
              </a:spcBef>
              <a:defRPr sz="880">
                <a:solidFill>
                  <a:srgbClr val="1F2937"/>
                </a:solidFill>
                <a:latin typeface="Segoe UI"/>
              </a:defRPr>
            </a:pPr>
            <a:r>
              <a:t>• Data Access &amp; Transactions: Decoupled architecture using DAOs, PreparedStatement, and JDBC transaction commit/rollback.</a:t>
            </a:r>
          </a:p>
          <a:p>
            <a:pPr>
              <a:spcBef>
                <a:spcPts val="600"/>
              </a:spcBef>
              <a:defRPr sz="880">
                <a:solidFill>
                  <a:srgbClr val="1F2937"/>
                </a:solidFill>
                <a:latin typeface="Segoe UI"/>
              </a:defRPr>
            </a:pPr>
            <a:r>
              <a:t>• Cryptographic Security: PBKDF2 password hashing with 16-byte random salt and transparent legacy hash upgrade.</a:t>
            </a:r>
          </a:p>
          <a:p>
            <a:pPr>
              <a:spcBef>
                <a:spcPts val="600"/>
              </a:spcBef>
              <a:defRPr sz="880">
                <a:solidFill>
                  <a:srgbClr val="1F2937"/>
                </a:solidFill>
                <a:latin typeface="Segoe UI"/>
              </a:defRPr>
            </a:pPr>
            <a:r>
              <a:t>• Test Automation: 53 automated unit &amp; integration tests passing across all functional domains.</a:t>
            </a:r>
          </a:p>
        </p:txBody>
      </p:sp>
      <p:sp>
        <p:nvSpPr>
          <p:cNvPr id="11" name="Rounded Rectangle 10"/>
          <p:cNvSpPr/>
          <p:nvPr/>
        </p:nvSpPr>
        <p:spPr>
          <a:xfrm>
            <a:off x="8119872" y="1417320"/>
            <a:ext cx="3328416" cy="32461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119872" y="1417320"/>
            <a:ext cx="3328416"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02752" y="1581912"/>
            <a:ext cx="2962656" cy="2926080"/>
          </a:xfrm>
          <a:prstGeom prst="rect">
            <a:avLst/>
          </a:prstGeom>
          <a:noFill/>
        </p:spPr>
        <p:txBody>
          <a:bodyPr wrap="square" lIns="0" tIns="0" rIns="0" bIns="0">
            <a:spAutoFit/>
          </a:bodyPr>
          <a:lstStyle/>
          <a:p>
            <a:pPr>
              <a:defRPr sz="1150" b="1">
                <a:solidFill>
                  <a:srgbClr val="14532D"/>
                </a:solidFill>
                <a:latin typeface="Segoe UI"/>
              </a:defRPr>
            </a:pPr>
            <a:r>
              <a:t>Academic Boundaries &amp; Future Scope</a:t>
            </a:r>
          </a:p>
          <a:p>
            <a:pPr>
              <a:spcBef>
                <a:spcPts val="600"/>
              </a:spcBef>
              <a:defRPr sz="880">
                <a:solidFill>
                  <a:srgbClr val="1F2937"/>
                </a:solidFill>
                <a:latin typeface="Segoe UI"/>
              </a:defRPr>
            </a:pPr>
            <a:r>
              <a:t>• RESTful Backend Migration: Decouple business logic into Spring Boot microservices for web and mobile client access.</a:t>
            </a:r>
          </a:p>
          <a:p>
            <a:pPr>
              <a:spcBef>
                <a:spcPts val="600"/>
              </a:spcBef>
              <a:defRPr sz="880">
                <a:solidFill>
                  <a:srgbClr val="1F2937"/>
                </a:solidFill>
                <a:latin typeface="Segoe UI"/>
              </a:defRPr>
            </a:pPr>
            <a:r>
              <a:t>• Native Mobile Apps: Develop Flutter/Android clients for real-time crop logging in field conditions.</a:t>
            </a:r>
          </a:p>
          <a:p>
            <a:pPr>
              <a:spcBef>
                <a:spcPts val="600"/>
              </a:spcBef>
              <a:defRPr sz="880">
                <a:solidFill>
                  <a:srgbClr val="1F2937"/>
                </a:solidFill>
                <a:latin typeface="Segoe UI"/>
              </a:defRPr>
            </a:pPr>
            <a:r>
              <a:t>• Digital Payment Gateway: Integrate UPI / Razorpay payment APIs for automated settlement.</a:t>
            </a:r>
          </a:p>
          <a:p>
            <a:pPr>
              <a:spcBef>
                <a:spcPts val="600"/>
              </a:spcBef>
              <a:defRPr sz="880">
                <a:solidFill>
                  <a:srgbClr val="1F2937"/>
                </a:solidFill>
                <a:latin typeface="Segoe UI"/>
              </a:defRPr>
            </a:pPr>
            <a:r>
              <a:t>• Push Notification Service: Implement WebSocket or SMS alerts for immediate order status updates.</a:t>
            </a:r>
          </a:p>
        </p:txBody>
      </p:sp>
      <p:sp>
        <p:nvSpPr>
          <p:cNvPr id="14" name="Rounded Rectangle 13"/>
          <p:cNvSpPr/>
          <p:nvPr/>
        </p:nvSpPr>
        <p:spPr>
          <a:xfrm>
            <a:off x="731520" y="4800600"/>
            <a:ext cx="10728655" cy="1463040"/>
          </a:xfrm>
          <a:prstGeom prst="roundRect">
            <a:avLst/>
          </a:prstGeom>
          <a:solidFill>
            <a:srgbClr val="145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 y="4800600"/>
            <a:ext cx="1072865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4937760"/>
            <a:ext cx="10180015" cy="1188720"/>
          </a:xfrm>
          <a:prstGeom prst="rect">
            <a:avLst/>
          </a:prstGeom>
          <a:noFill/>
        </p:spPr>
        <p:txBody>
          <a:bodyPr wrap="square" lIns="0" tIns="0" rIns="0" bIns="0">
            <a:spAutoFit/>
          </a:bodyPr>
          <a:lstStyle/>
          <a:p>
            <a:pPr>
              <a:defRPr sz="1900" b="1">
                <a:solidFill>
                  <a:srgbClr val="DCFCE7"/>
                </a:solidFill>
                <a:latin typeface="Segoe UI"/>
              </a:defRPr>
            </a:pPr>
            <a:r>
              <a:t>Thank You! Questions &amp; Discussion Welcomed.</a:t>
            </a:r>
          </a:p>
          <a:p>
            <a:pPr>
              <a:spcBef>
                <a:spcPts val="400"/>
              </a:spcBef>
              <a:defRPr sz="1000" b="1">
                <a:solidFill>
                  <a:srgbClr val="FFFFFF"/>
                </a:solidFill>
                <a:latin typeface="Segoe UI"/>
              </a:defRPr>
            </a:pPr>
            <a:r>
              <a:t>YieldGrid — Farm-to-Retail Inventory System | Review 1 • Object-Oriented Programming through Java (25PC1CS201)</a:t>
            </a:r>
          </a:p>
          <a:p>
            <a:pPr>
              <a:spcBef>
                <a:spcPts val="400"/>
              </a:spcBef>
              <a:defRPr sz="900">
                <a:solidFill>
                  <a:srgbClr val="C8E1D2"/>
                </a:solidFill>
                <a:latin typeface="Segoe UI"/>
              </a:defRPr>
            </a:pPr>
            <a:r>
              <a:t>Team: Pervala Yashwanth (26075A6610) • Yejju Sathyasai (26075A6613) • Shaik Abdul Rasheed (26075A6612)</a:t>
            </a:r>
            <a:br/>
            <a:r>
              <a:t>Academic Guide: Ms. K. Anitha, Assistant Professor | Dept. of CSE (AI&amp;ML, IoT) • VNR VJIET, Hyderabad</a:t>
            </a:r>
          </a:p>
        </p:txBody>
      </p:sp>
      <p:sp>
        <p:nvSpPr>
          <p:cNvPr id="17" name="Rectangle 16"/>
          <p:cNvSpPr/>
          <p:nvPr/>
        </p:nvSpPr>
        <p:spPr>
          <a:xfrm>
            <a:off x="731520" y="6419088"/>
            <a:ext cx="10728655" cy="13716"/>
          </a:xfrm>
          <a:prstGeom prst="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6473952"/>
            <a:ext cx="8229600" cy="256032"/>
          </a:xfrm>
          <a:prstGeom prst="rect">
            <a:avLst/>
          </a:prstGeom>
          <a:noFill/>
        </p:spPr>
        <p:txBody>
          <a:bodyPr wrap="none" lIns="0" tIns="0" rIns="0" bIns="0">
            <a:spAutoFit/>
          </a:bodyPr>
          <a:lstStyle/>
          <a:p>
            <a:pPr>
              <a:defRPr sz="850">
                <a:solidFill>
                  <a:srgbClr val="6B7280"/>
                </a:solidFill>
                <a:latin typeface="Segoe UI"/>
              </a:defRPr>
            </a:pPr>
            <a:r>
              <a:t>YieldGrid — Farm-to-Retail Inventory System | Review 1 • Object-Oriented Programming through Java</a:t>
            </a:r>
          </a:p>
        </p:txBody>
      </p:sp>
      <p:sp>
        <p:nvSpPr>
          <p:cNvPr id="19" name="TextBox 18"/>
          <p:cNvSpPr txBox="1"/>
          <p:nvPr/>
        </p:nvSpPr>
        <p:spPr>
          <a:xfrm>
            <a:off x="9601200" y="6473952"/>
            <a:ext cx="1858975" cy="256032"/>
          </a:xfrm>
          <a:prstGeom prst="rect">
            <a:avLst/>
          </a:prstGeom>
          <a:noFill/>
        </p:spPr>
        <p:txBody>
          <a:bodyPr wrap="none" lIns="0" tIns="0" rIns="0" bIns="0">
            <a:spAutoFit/>
          </a:bodyPr>
          <a:lstStyle/>
          <a:p>
            <a:pPr algn="r">
              <a:defRPr sz="850" b="1">
                <a:solidFill>
                  <a:srgbClr val="6B7280"/>
                </a:solidFill>
                <a:latin typeface="Segoe UI"/>
              </a:defRPr>
            </a:pPr>
            <a:r>
              <a:t>Slide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2132</Words>
  <Application>Microsoft Office PowerPoint</Application>
  <PresentationFormat>Widescreen</PresentationFormat>
  <Paragraphs>195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Yejju Sathya Sai</cp:lastModifiedBy>
  <cp:revision>3</cp:revision>
  <dcterms:created xsi:type="dcterms:W3CDTF">2013-01-27T09:14:16Z</dcterms:created>
  <dcterms:modified xsi:type="dcterms:W3CDTF">2026-10-16T07:12:11Z</dcterms:modified>
  <cp:category/>
</cp:coreProperties>
</file>